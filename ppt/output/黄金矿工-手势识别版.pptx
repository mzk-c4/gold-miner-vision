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6012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9600" b="1" i="0">
                <a:solidFill>
                  <a:srgbClr val="D4A843"/>
                </a:solidFill>
                <a:latin typeface="Noto Sans SC"/>
              </a:defRPr>
            </a:pPr>
            <a:r>
              <a:t>黄金矿工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3600" b="0" i="0">
                <a:solidFill>
                  <a:srgbClr val="E8E8EC"/>
                </a:solidFill>
                <a:latin typeface="Noto Sans SC"/>
              </a:defRPr>
            </a:pPr>
            <a:r>
              <a:t>手势识别版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0" i="0">
                <a:solidFill>
                  <a:srgbClr val="6CA0D8"/>
                </a:solidFill>
                <a:latin typeface="Consolas"/>
              </a:defRPr>
            </a:pPr>
            <a:r>
              <a:t>GOLD MINER · VISION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800" b="0" i="0">
                <a:solidFill>
                  <a:srgbClr val="8A8FA8"/>
                </a:solidFill>
                <a:latin typeface="Noto Sans SC"/>
              </a:defRPr>
            </a:pPr>
            <a:r>
              <a:t>C++ 课程设计汇报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300" b="0" i="0">
                <a:solidFill>
                  <a:srgbClr val="6CA0D8"/>
                </a:solidFill>
                <a:latin typeface="Consolas"/>
              </a:defRPr>
            </a:pPr>
            <a:r>
              <a:t>github.com/mzk-C4/gold-miner-vision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303520"/>
            <a:ext cx="1463040" cy="320040"/>
          </a:xfrm>
          <a:prstGeom prst="roundRect">
            <a:avLst/>
          </a:prstGeom>
          <a:solidFill>
            <a:srgbClr val="1A203A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D4A843"/>
                </a:solidFill>
                <a:latin typeface="Noto Sans SC"/>
              </a:defRPr>
            </a:pPr>
            <a:r>
              <a:t>Cocos2d-x 4.0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5303520"/>
            <a:ext cx="1463040" cy="320040"/>
          </a:xfrm>
          <a:prstGeom prst="roundRect">
            <a:avLst/>
          </a:prstGeom>
          <a:solidFill>
            <a:srgbClr val="1A203A"/>
          </a:solidFill>
          <a:ln w="635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A7FB5"/>
                </a:solidFill>
                <a:latin typeface="Noto Sans SC"/>
              </a:defRPr>
            </a:pPr>
            <a:r>
              <a:t>OpenCV 4.5.5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5303520"/>
            <a:ext cx="1463040" cy="320040"/>
          </a:xfrm>
          <a:prstGeom prst="roundRect">
            <a:avLst/>
          </a:prstGeom>
          <a:solidFill>
            <a:srgbClr val="1A203A"/>
          </a:solidFill>
          <a:ln w="635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BAF8A"/>
                </a:solidFill>
                <a:latin typeface="Noto Sans SC"/>
              </a:defRPr>
            </a:pPr>
            <a:r>
              <a:t>C++17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5303520"/>
            <a:ext cx="1463040" cy="320040"/>
          </a:xfrm>
          <a:prstGeom prst="roundRect">
            <a:avLst/>
          </a:prstGeom>
          <a:solidFill>
            <a:srgbClr val="1A203A"/>
          </a:solidFill>
          <a:ln w="635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7B6BA0"/>
                </a:solidFill>
                <a:latin typeface="Noto Sans SC"/>
              </a:defRPr>
            </a:pPr>
            <a:r>
              <a:t>Cloud AI</a:t>
            </a:r>
          </a:p>
        </p:txBody>
      </p:sp>
      <p:pic>
        <p:nvPicPr>
          <p:cNvPr id="11" name="Picture 10" descr="gold-lar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126480"/>
            <a:ext cx="1304163" cy="1280160"/>
          </a:xfrm>
          <a:prstGeom prst="rect">
            <a:avLst/>
          </a:prstGeom>
        </p:spPr>
      </p:pic>
      <p:pic>
        <p:nvPicPr>
          <p:cNvPr id="12" name="Picture 11" descr="diamond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6126480"/>
            <a:ext cx="839755" cy="822960"/>
          </a:xfrm>
          <a:prstGeom prst="rect">
            <a:avLst/>
          </a:prstGeom>
        </p:spPr>
      </p:pic>
      <p:pic>
        <p:nvPicPr>
          <p:cNvPr id="13" name="Picture 12" descr="gold-nugget-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6126480"/>
            <a:ext cx="776514" cy="914400"/>
          </a:xfrm>
          <a:prstGeom prst="rect">
            <a:avLst/>
          </a:prstGeom>
        </p:spPr>
      </p:pic>
      <p:pic>
        <p:nvPicPr>
          <p:cNvPr id="14" name="Picture 13" descr="treas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9" y="6126480"/>
            <a:ext cx="798286" cy="1005840"/>
          </a:xfrm>
          <a:prstGeom prst="rect">
            <a:avLst/>
          </a:prstGeom>
        </p:spPr>
      </p:pic>
      <p:pic>
        <p:nvPicPr>
          <p:cNvPr id="15" name="Picture 14" descr="t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6126480"/>
            <a:ext cx="739588" cy="914400"/>
          </a:xfrm>
          <a:prstGeom prst="rect">
            <a:avLst/>
          </a:prstGeom>
        </p:spPr>
      </p:pic>
      <p:pic>
        <p:nvPicPr>
          <p:cNvPr id="16" name="Picture 15" descr="gen-diamo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6126480"/>
            <a:ext cx="682752" cy="8229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675120"/>
            <a:ext cx="12191695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000" b="0" i="0">
                <a:solidFill>
                  <a:srgbClr val="555A70"/>
                </a:solidFill>
                <a:latin typeface="Consola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Consolas"/>
              </a:defRPr>
            </a:pPr>
            <a:r>
              <a:t>BACKGROUND · CLASSIC ×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3200" b="1" i="0">
                <a:solidFill>
                  <a:srgbClr val="D4A843"/>
                </a:solidFill>
                <a:latin typeface="Noto Sans SC"/>
              </a:defRPr>
            </a:pPr>
            <a:r>
              <a:t>经典黄金矿工 × 手势识别技术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50292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1" i="0">
                <a:solidFill>
                  <a:srgbClr val="D4A843"/>
                </a:solidFill>
                <a:latin typeface="Noto Sans SC"/>
              </a:defRPr>
            </a:pPr>
            <a:r>
              <a:t>🎮  经典黄金矿工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🪝 钩子摆动与释放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正弦函数驱动周期摆动，按键释放沿当前角度射出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💎 矿物价值体系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钻石600·大金块500·小金块200·石头20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🛒 道具策略系统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炸药150·力量药水200·钻石书300·矿石书100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🏆 5关递增难度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目标金额 $500→$2500，大金块概率逐关降低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1">
                <a:solidFill>
                  <a:srgbClr val="8A8FA8"/>
                </a:solidFill>
                <a:latin typeface="Noto Sans SC"/>
              </a:defRPr>
            </a:pPr>
            <a:r>
              <a:t>基于 ZhongTaoTian/GoldMiner 开源项目改造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474720"/>
            <a:ext cx="731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6000" b="1" i="0">
                <a:solidFill>
                  <a:srgbClr val="D4A843"/>
                </a:solidFill>
                <a:latin typeface="Consolas"/>
              </a:defRPr>
            </a:pPr>
            <a:r>
              <a:t>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5394960" cy="50292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1" i="0">
                <a:solidFill>
                  <a:srgbClr val="6CA0D8"/>
                </a:solidFill>
                <a:latin typeface="Noto Sans SC"/>
              </a:defRPr>
            </a:pPr>
            <a:r>
              <a:t>🤚  手势识别引擎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2860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📷 实时摄像头捕获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606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640×480 帧，JPEG编码推入异步队列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91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🧠 双引擎协同架构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611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本地OpenCV (30ms/帧) + 云端AI精确校验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976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✋ 四种手势指令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6177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张开→瞄准·握拳→释放·倾斜→方向·长握1.5s→引爆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3035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⌨️ 智能降级兜底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6235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摄像头不可用时自动切换键盘模式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6692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核心技术栈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5897880"/>
            <a:ext cx="2194560" cy="4572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94360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1" i="0">
                <a:solidFill>
                  <a:srgbClr val="6CA0D8"/>
                </a:solidFill>
                <a:latin typeface="Noto Sans SC"/>
              </a:defRPr>
            </a:pPr>
            <a:r>
              <a:t>Cocos2d-x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615391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900" b="0" i="0">
                <a:solidFill>
                  <a:srgbClr val="8A8FA8"/>
                </a:solidFill>
                <a:latin typeface="Consolas"/>
              </a:defRPr>
            </a:pPr>
            <a:r>
              <a:t>v4.0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5897880"/>
            <a:ext cx="2194560" cy="4572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594360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1" i="0">
                <a:solidFill>
                  <a:srgbClr val="6CA0D8"/>
                </a:solidFill>
                <a:latin typeface="Noto Sans SC"/>
              </a:defRPr>
            </a:pPr>
            <a:r>
              <a:t>OpenCV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615391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900" b="0" i="0">
                <a:solidFill>
                  <a:srgbClr val="8A8FA8"/>
                </a:solidFill>
                <a:latin typeface="Consolas"/>
              </a:defRPr>
            </a:pPr>
            <a:r>
              <a:t>v4.5.5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6446520"/>
            <a:ext cx="2194560" cy="4572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64922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1" i="0">
                <a:solidFill>
                  <a:srgbClr val="6CA0D8"/>
                </a:solidFill>
                <a:latin typeface="Noto Sans SC"/>
              </a:defRPr>
            </a:pPr>
            <a:r>
              <a:t>C++17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70255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900" b="0" i="0">
                <a:solidFill>
                  <a:srgbClr val="8A8FA8"/>
                </a:solidFill>
                <a:latin typeface="Consolas"/>
              </a:defRPr>
            </a:pPr>
            <a:r>
              <a:t>Modern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6446520"/>
            <a:ext cx="2194560" cy="4572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64922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1" i="0">
                <a:solidFill>
                  <a:srgbClr val="6CA0D8"/>
                </a:solidFill>
                <a:latin typeface="Noto Sans SC"/>
              </a:defRPr>
            </a:pPr>
            <a:r>
              <a:t>libcurl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6702552"/>
            <a:ext cx="18288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900" b="0" i="0">
                <a:solidFill>
                  <a:srgbClr val="8A8FA8"/>
                </a:solidFill>
                <a:latin typeface="Consolas"/>
              </a:defRPr>
            </a:pPr>
            <a:r>
              <a:t>HTTP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75120"/>
            <a:ext cx="12191695" cy="18288"/>
          </a:xfrm>
          <a:prstGeom prst="rect">
            <a:avLst/>
          </a:prstGeom>
          <a:solidFill>
            <a:srgbClr val="4A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000" b="0" i="0">
                <a:solidFill>
                  <a:srgbClr val="555A70"/>
                </a:solidFill>
                <a:latin typeface="Consola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Consolas"/>
              </a:defRPr>
            </a:pPr>
            <a:r>
              <a:t>CORE DATA STRUCTURES · TYPE-SAFE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3200" b="1" i="0">
                <a:solidFill>
                  <a:srgbClr val="D4A843"/>
                </a:solidFill>
                <a:latin typeface="Noto Sans SC"/>
              </a:defRPr>
            </a:pPr>
            <a:r>
              <a:t>数据流：手势 → 识别 → 指令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474720" cy="41148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enum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83664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200" b="1" i="0">
                <a:solidFill>
                  <a:srgbClr val="D4A843"/>
                </a:solidFill>
                <a:latin typeface="Consolas"/>
              </a:defRPr>
            </a:pPr>
            <a:r>
              <a:t>GestureType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OPEN_PALM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手掌张开·瞄准中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FIST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握拳·释放触发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无手势·保持状态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1">
                <a:solidFill>
                  <a:srgbClr val="D4A843"/>
                </a:solidFill>
                <a:latin typeface="Noto Sans SC"/>
              </a:defRPr>
            </a:pPr>
            <a:r>
              <a:t>策略模式输入 · 强类型枚举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54480"/>
            <a:ext cx="3474720" cy="41148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9164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struct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883664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200" b="1" i="0">
                <a:solidFill>
                  <a:srgbClr val="5BAF8A"/>
                </a:solidFill>
                <a:latin typeface="Consolas"/>
              </a:defRPr>
            </a:pPr>
            <a:r>
              <a:t>GestureResult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7744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gesture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37744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GestureType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0604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当前手势枚举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8892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angle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float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1752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[-65°, +65°]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20040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2004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float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42900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[0, 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1188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isValid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61188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bool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84048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低置信度过滤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02336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isLocked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02336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bool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25196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FIST锁定态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43484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43484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string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66344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"local"/"cloud"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3949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1">
                <a:solidFill>
                  <a:srgbClr val="5BAF8A"/>
                </a:solidFill>
                <a:latin typeface="Noto Sans SC"/>
              </a:defRPr>
            </a:pPr>
            <a:r>
              <a:t>识别引擎统一输出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1554480"/>
            <a:ext cx="3474720" cy="41148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69164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struct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883664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200" b="1" i="0">
                <a:solidFill>
                  <a:srgbClr val="7B6BA0"/>
                </a:solidFill>
                <a:latin typeface="Consolas"/>
              </a:defRPr>
            </a:pPr>
            <a:r>
              <a:t>GestureCommand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37744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shouldReleaseHook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37744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bool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60604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释放钩子信号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278892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shouldDetonateBomb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278892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bool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01752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引爆炸药信号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20040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targetAngle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320040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float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42900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钩子目标角度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61188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isValid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361188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bool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3840480"/>
            <a:ext cx="274320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指令有效性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539496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1">
                <a:solidFill>
                  <a:srgbClr val="7B6BA0"/>
                </a:solidFill>
                <a:latin typeface="Noto Sans SC"/>
              </a:defRPr>
            </a:pPr>
            <a:r>
              <a:t>游戏引擎消费 · 最终指令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320040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2400" b="0" i="0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6160" y="34747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800" b="0" i="0">
                <a:solidFill>
                  <a:srgbClr val="8A8FA8"/>
                </a:solidFill>
                <a:latin typeface="Noto Sans SC"/>
              </a:defRPr>
            </a:pPr>
            <a:r>
              <a:t>识别引擎输出映射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3200400"/>
            <a:ext cx="548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2400" b="0" i="0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347472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800" b="0" i="0">
                <a:solidFill>
                  <a:srgbClr val="8A8FA8"/>
                </a:solidFill>
                <a:latin typeface="Noto Sans SC"/>
              </a:defRPr>
            </a:pPr>
            <a:r>
              <a:t>融合决策指令转换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2103120" cy="6400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598932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1" i="0">
                <a:solidFill>
                  <a:srgbClr val="D4A843"/>
                </a:solidFill>
                <a:latin typeface="Consolas"/>
              </a:defRPr>
            </a:pPr>
            <a:r>
              <a:t>类型安全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2179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900" b="0" i="0">
                <a:solidFill>
                  <a:srgbClr val="8A8FA8"/>
                </a:solidFill>
                <a:latin typeface="Noto Sans SC"/>
              </a:defRPr>
            </a:pPr>
            <a:r>
              <a:t>enum class 强类型枚举，编译期防隐式转换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834640" y="5943600"/>
            <a:ext cx="2103120" cy="6400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71800" y="598932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1" i="0">
                <a:solidFill>
                  <a:srgbClr val="5BAF8A"/>
                </a:solidFill>
                <a:latin typeface="Consolas"/>
              </a:defRPr>
            </a:pPr>
            <a:r>
              <a:t>跨线程传递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71800" y="62179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900" b="0" i="0">
                <a:solidFill>
                  <a:srgbClr val="8A8FA8"/>
                </a:solidFill>
                <a:latin typeface="Noto Sans SC"/>
              </a:defRPr>
            </a:pPr>
            <a:r>
              <a:t>std::atomic 包裹关键字段，线程安全共享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212080" y="5943600"/>
            <a:ext cx="2103120" cy="6400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49240" y="598932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1" i="0">
                <a:solidFill>
                  <a:srgbClr val="6CA0D8"/>
                </a:solidFill>
                <a:latin typeface="Consolas"/>
              </a:defRPr>
            </a:pPr>
            <a:r>
              <a:t>置信度过滤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9240" y="62179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900" b="0" i="0">
                <a:solidFill>
                  <a:srgbClr val="8A8FA8"/>
                </a:solidFill>
                <a:latin typeface="Noto Sans SC"/>
              </a:defRPr>
            </a:pPr>
            <a:r>
              <a:t>confidence &lt; 0.6 标记 isValid=false，直接丢弃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89520" y="5943600"/>
            <a:ext cx="2103120" cy="6400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26680" y="598932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1" i="0">
                <a:solidFill>
                  <a:srgbClr val="7B6BA0"/>
                </a:solidFill>
                <a:latin typeface="Consolas"/>
              </a:defRPr>
            </a:pPr>
            <a:r>
              <a:t>来源追溯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26680" y="62179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900" b="0" i="0">
                <a:solidFill>
                  <a:srgbClr val="8A8FA8"/>
                </a:solidFill>
                <a:latin typeface="Noto Sans SC"/>
              </a:defRPr>
            </a:pPr>
            <a:r>
              <a:t>source 字段记录识别源，调试与决策优先级判断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966960" y="5943600"/>
            <a:ext cx="2103120" cy="6400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04120" y="598932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200" b="1" i="0">
                <a:solidFill>
                  <a:srgbClr val="C57B8A"/>
                </a:solidFill>
                <a:latin typeface="Consolas"/>
              </a:defRPr>
            </a:pPr>
            <a:r>
              <a:t>状态锁定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04120" y="62179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900" b="0" i="0">
                <a:solidFill>
                  <a:srgbClr val="8A8FA8"/>
                </a:solidFill>
                <a:latin typeface="Noto Sans SC"/>
              </a:defRPr>
            </a:pPr>
            <a:r>
              <a:t>isLocked 标记 FIST 锁定态，避免重复云端请求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675120"/>
            <a:ext cx="12191695" cy="18288"/>
          </a:xfrm>
          <a:prstGeom prst="rect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000" b="0" i="0">
                <a:solidFill>
                  <a:srgbClr val="555A70"/>
                </a:solidFill>
                <a:latin typeface="Consola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Consolas"/>
              </a:defRPr>
            </a:pPr>
            <a:r>
              <a:t>PIPELINE · 5-STEP ALGORITHM · ~30MS PER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3200" b="1" i="0">
                <a:solidFill>
                  <a:srgbClr val="4A7FB5"/>
                </a:solidFill>
                <a:latin typeface="Noto Sans SC"/>
              </a:defRPr>
            </a:pPr>
            <a:r>
              <a:t>本地 CV 识别流水线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057400" cy="3291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234440"/>
            <a:ext cx="502920" cy="50292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HSV 颜色分割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24028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000" b="0" i="0">
                <a:solidFill>
                  <a:srgbClr val="D4A843"/>
                </a:solidFill>
                <a:latin typeface="Consolas"/>
              </a:defRPr>
            </a:pPr>
            <a:r>
              <a:t>cv::cvtColor</a:t>
            </a:r>
            <a:br/>
            <a:r>
              <a:t>+ cv::inRange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88036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BGR→HSV 空间转换</a:t>
            </a:r>
            <a:br/>
            <a:r>
              <a:t>肤色阈值过滤</a:t>
            </a:r>
            <a:br/>
            <a:r>
              <a:t>高斯模糊降噪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4251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1" i="0">
                <a:solidFill>
                  <a:srgbClr val="D4A843"/>
                </a:solidFill>
                <a:latin typeface="Consolas"/>
              </a:defRPr>
            </a:pPr>
            <a:r>
              <a:t>~5ms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74320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800" b="0" i="0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39" y="1371600"/>
            <a:ext cx="2057400" cy="3291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83279" y="1234440"/>
            <a:ext cx="502920" cy="502920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1920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轮廓检测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199" y="224028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000" b="0" i="0">
                <a:solidFill>
                  <a:srgbClr val="4A7FB5"/>
                </a:solidFill>
                <a:latin typeface="Consolas"/>
              </a:defRPr>
            </a:pPr>
            <a:r>
              <a:t>cv::findContours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288036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RETR_EXTERNAL 模式</a:t>
            </a:r>
            <a:br/>
            <a:r>
              <a:t>取最大轮廓为手部</a:t>
            </a:r>
            <a:br/>
            <a:r>
              <a:t>面积过滤噪点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199" y="4251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1" i="0">
                <a:solidFill>
                  <a:srgbClr val="4A7FB5"/>
                </a:solidFill>
                <a:latin typeface="Consolas"/>
              </a:defRPr>
            </a:pPr>
            <a:r>
              <a:t>~8ms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274320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800" b="0" i="0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59" y="1371600"/>
            <a:ext cx="2057400" cy="3291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4999" y="1234440"/>
            <a:ext cx="502920" cy="502920"/>
          </a:xfrm>
          <a:prstGeom prst="ellipse">
            <a:avLst/>
          </a:prstGeom>
          <a:solidFill>
            <a:srgbClr val="5BA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920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凸包分析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24028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cv::convexHull</a:t>
            </a:r>
            <a:br/>
            <a:r>
              <a:t>+ convexityDefects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88036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计算手部轮廓凸包</a:t>
            </a:r>
            <a:br/>
            <a:r>
              <a:t>提取凸缺陷点</a:t>
            </a:r>
            <a:br/>
            <a:r>
              <a:t>筛选指尖候选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251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1" i="0">
                <a:solidFill>
                  <a:srgbClr val="5BAF8A"/>
                </a:solidFill>
                <a:latin typeface="Consolas"/>
              </a:defRPr>
            </a:pPr>
            <a:r>
              <a:t>~6ms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7" y="274320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800" b="0" i="0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79" y="1371600"/>
            <a:ext cx="2057400" cy="3291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6719" y="1234440"/>
            <a:ext cx="502920" cy="502920"/>
          </a:xfrm>
          <a:prstGeom prst="ellipse">
            <a:avLst/>
          </a:prstGeom>
          <a:solidFill>
            <a:srgbClr val="C5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920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指尖识别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24028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000" b="0" i="0">
                <a:solidFill>
                  <a:srgbClr val="C57B8A"/>
                </a:solidFill>
                <a:latin typeface="Consolas"/>
              </a:defRPr>
            </a:pPr>
            <a:r>
              <a:t>几何特征</a:t>
            </a:r>
            <a:br/>
            <a:r>
              <a:t>+ 角度过滤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88036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凸缺陷深度阈值</a:t>
            </a:r>
            <a:br/>
            <a:r>
              <a:t>相邻指尖距离约束</a:t>
            </a:r>
            <a:br/>
            <a:r>
              <a:t>计算手掌张开度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251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1" i="0">
                <a:solidFill>
                  <a:srgbClr val="C57B8A"/>
                </a:solidFill>
                <a:latin typeface="Consolas"/>
              </a:defRPr>
            </a:pPr>
            <a:r>
              <a:t>~5ms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8" y="2743200"/>
            <a:ext cx="365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800" b="0" i="0">
                <a:solidFill>
                  <a:srgbClr val="D4A843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1371600"/>
            <a:ext cx="2057400" cy="32918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78440" y="1234440"/>
            <a:ext cx="502920" cy="502920"/>
          </a:xfrm>
          <a:prstGeom prst="ellipse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27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1920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1" i="0">
                <a:solidFill>
                  <a:srgbClr val="E8E8EC"/>
                </a:solidFill>
                <a:latin typeface="Noto Sans SC"/>
              </a:defRPr>
            </a:pPr>
            <a:r>
              <a:t>角度计算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224028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000" b="0" i="0">
                <a:solidFill>
                  <a:srgbClr val="7B6BA0"/>
                </a:solidFill>
                <a:latin typeface="Consolas"/>
              </a:defRPr>
            </a:pPr>
            <a:r>
              <a:t>重心偏移</a:t>
            </a:r>
            <a:br/>
            <a:r>
              <a:t>→ 角度映射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288036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重心相对ROI中心偏移</a:t>
            </a:r>
            <a:br/>
            <a:r>
              <a:t>线性映射至[-65°,+65°]</a:t>
            </a:r>
            <a:br/>
            <a:r>
              <a:t>EMA平滑滤波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4251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1" i="0">
                <a:solidFill>
                  <a:srgbClr val="7B6BA0"/>
                </a:solidFill>
                <a:latin typeface="Consolas"/>
              </a:defRPr>
            </a:pPr>
            <a:r>
              <a:t>~3ms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937760"/>
            <a:ext cx="3566160" cy="15544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0292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400" b="1" i="0">
                <a:solidFill>
                  <a:srgbClr val="D4A843"/>
                </a:solidFill>
                <a:latin typeface="Noto Sans SC"/>
              </a:defRPr>
            </a:pPr>
            <a:r>
              <a:t>算法参数配置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3035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输入分辨率     640 × 480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5321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帧编码格式     JPEG (quality 85)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607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HSV肤色Lower   [0, 20, 70]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9893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HSV肤色Upper   [20, 255, 255]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2179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高斯核             5×5, σ=0.8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465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EMA平滑系数    α = 0.7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6751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置信度阈值       ≥ 0.60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97680" y="4937760"/>
            <a:ext cx="3566160" cy="15544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50292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400" b="1" i="0">
                <a:solidFill>
                  <a:srgbClr val="4A7FB5"/>
                </a:solidFill>
                <a:latin typeface="Noto Sans SC"/>
              </a:defRPr>
            </a:pPr>
            <a:r>
              <a:t>时域滤波策略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53035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滤波方式          EMA 指数平滑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55321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窗口大小           最近 5 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57607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手势去抖             连续≥3帧一致切换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59893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角度去抖             增量 ≤ 5°/帧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62179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无效帧丢弃          conf &lt; 0.6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0" y="64465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总延迟                 ~85ms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38160" y="4937760"/>
            <a:ext cx="3566160" cy="15544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50292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400" b="1" i="0">
                <a:solidFill>
                  <a:srgbClr val="5BAF8A"/>
                </a:solidFill>
                <a:latin typeface="Noto Sans SC"/>
              </a:defRPr>
            </a:pPr>
            <a:r>
              <a:t>角度映射公式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53035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offset=(cx-roiCX)/(roiW*0.5)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55321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angle = offset * 65.0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57607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angle = clamp(-65,+65)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59893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Consolas"/>
              </a:defRPr>
            </a:pPr>
            <a:r>
              <a:t>angle = prevAngle*0.3 + angle*0.7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675120"/>
            <a:ext cx="12191695" cy="18288"/>
          </a:xfrm>
          <a:prstGeom prst="rect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000" b="0" i="0">
                <a:solidFill>
                  <a:srgbClr val="555A70"/>
                </a:solidFill>
                <a:latin typeface="Consola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Consolas"/>
              </a:defRPr>
            </a:pPr>
            <a:r>
              <a:t>FUSION · LOCAL + CLOUD COLLABORATIVE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3200" b="1" i="0">
                <a:solidFill>
                  <a:srgbClr val="D4A843"/>
                </a:solidFill>
                <a:latin typeface="Noto Sans SC"/>
              </a:defRPr>
            </a:pPr>
            <a:r>
              <a:t>双引擎融合策略：本地快 × 云端准 · 安全优先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577840" cy="23774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200" b="1" i="0">
                <a:solidFill>
                  <a:srgbClr val="4A7FB5"/>
                </a:solidFill>
                <a:latin typeface="Noto Sans SC"/>
              </a:defRPr>
            </a:pPr>
            <a:r>
              <a:t>🖥️ 本地 CV 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1">
                <a:solidFill>
                  <a:srgbClr val="4A7FB5"/>
                </a:solidFill>
                <a:latin typeface="Consolas"/>
              </a:defRPr>
            </a:pPr>
            <a:r>
              <a:t>LocalGestureRecognizer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识别频率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~30ms/帧持续产出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8716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处理线程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87168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独立识别线程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79776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OPEN_PALM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779776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直接输出角度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72384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FIST检测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072384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isLocked→触发云端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64991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降级触发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364991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云端超时2s接管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280160"/>
            <a:ext cx="5577840" cy="23774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417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200" b="1" i="0">
                <a:solidFill>
                  <a:srgbClr val="7B6BA0"/>
                </a:solidFill>
                <a:latin typeface="Noto Sans SC"/>
              </a:defRPr>
            </a:pPr>
            <a:r>
              <a:t>☁️ 云端 AI 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78308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1">
                <a:solidFill>
                  <a:srgbClr val="7B6BA0"/>
                </a:solidFill>
                <a:latin typeface="Consolas"/>
              </a:defRPr>
            </a:pPr>
            <a:r>
              <a:t>CloudGestureRecognizer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识别精度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9456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MediaPipe级关键点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8716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触发时机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487168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仅FIST首次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779776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通信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779776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HTTP POST·Base64·JSON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072384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超时策略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072384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2s无响应→降级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364991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冲突处理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364991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E8E8EC"/>
                </a:solidFill>
                <a:latin typeface="Consolas"/>
              </a:defRPr>
            </a:pPr>
            <a:r>
              <a:t>本地≠云端→安全放弃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840480"/>
            <a:ext cx="5577840" cy="8686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93192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4000" b="1" i="0">
                <a:solidFill>
                  <a:srgbClr val="D4A843"/>
                </a:solidFill>
                <a:latin typeface="Consolas"/>
              </a:defRPr>
            </a:pPr>
            <a:r>
              <a:t>0.8s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3977639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500" b="1" i="0">
                <a:solidFill>
                  <a:srgbClr val="E8E8EC"/>
                </a:solidFill>
                <a:latin typeface="Noto Sans SC"/>
              </a:defRPr>
            </a:pPr>
            <a:r>
              <a:t>COOLDOWN_DURATION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42519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两次释放最小间隔，防手势抖动连续误释放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840480"/>
            <a:ext cx="5577840" cy="86868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93192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4000" b="1" i="0">
                <a:solidFill>
                  <a:srgbClr val="C57B8A"/>
                </a:solidFill>
                <a:latin typeface="Consolas"/>
              </a:defRPr>
            </a:pPr>
            <a:r>
              <a:t>1.5s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3977639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500" b="1" i="0">
                <a:solidFill>
                  <a:srgbClr val="E8E8EC"/>
                </a:solidFill>
                <a:latin typeface="Noto Sans SC"/>
              </a:defRPr>
            </a:pPr>
            <a:r>
              <a:t>BOMB_HOLD_DURATION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42519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握拳超此阈值→判定为引爆意图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92040"/>
            <a:ext cx="11247120" cy="16002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93776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300" b="1" i="0">
                <a:solidFill>
                  <a:srgbClr val="E8E8EC"/>
                </a:solidFill>
                <a:latin typeface="Noto Sans SC"/>
              </a:defRPr>
            </a:pPr>
            <a:r>
              <a:t>融合决策规则表 — GestureFusion::tick() 核心逻辑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2120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1" i="0">
                <a:solidFill>
                  <a:srgbClr val="8A8FA8"/>
                </a:solidFill>
                <a:latin typeface="Noto Sans SC"/>
              </a:defRPr>
            </a:pPr>
            <a:r>
              <a:t>场景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2120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1" i="0">
                <a:solidFill>
                  <a:srgbClr val="8A8FA8"/>
                </a:solidFill>
                <a:latin typeface="Noto Sans SC"/>
              </a:defRPr>
            </a:pPr>
            <a:r>
              <a:t>本地识别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2120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1" i="0">
                <a:solidFill>
                  <a:srgbClr val="8A8FA8"/>
                </a:solidFill>
                <a:latin typeface="Noto Sans SC"/>
              </a:defRPr>
            </a:pPr>
            <a:r>
              <a:t>云端状态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212080"/>
            <a:ext cx="4114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1" i="0">
                <a:solidFill>
                  <a:srgbClr val="8A8FA8"/>
                </a:solidFill>
                <a:latin typeface="Noto Sans SC"/>
              </a:defRPr>
            </a:pPr>
            <a:r>
              <a:t>融合策略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52120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1" i="0">
                <a:solidFill>
                  <a:srgbClr val="8A8FA8"/>
                </a:solidFill>
                <a:latin typeface="Noto Sans SC"/>
              </a:defRPr>
            </a:pPr>
            <a:r>
              <a:t>结果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4406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D4A843"/>
                </a:solidFill>
                <a:latin typeface="Consolas"/>
              </a:defRPr>
            </a:pPr>
            <a:r>
              <a:t>OPEN_PALM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4406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持续产出角度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0" y="54406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不触发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5440680"/>
            <a:ext cx="4114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E8E8EC"/>
                </a:solidFill>
                <a:latin typeface="Noto Sans SC"/>
              </a:defRPr>
            </a:pPr>
            <a:r>
              <a:t>直接使用本地角度，实时驱动钩子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54406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E8E8EC"/>
                </a:solidFill>
                <a:latin typeface="Noto Sans SC"/>
              </a:defRPr>
            </a:pPr>
            <a:r>
              <a:t>✓ 输出角度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6692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7B6BA0"/>
                </a:solidFill>
                <a:latin typeface="Consolas"/>
              </a:defRPr>
            </a:pPr>
            <a:r>
              <a:t>FIST 首次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11680" y="56692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isLocked=true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6692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发送HTTP请求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0" y="5669280"/>
            <a:ext cx="4114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E8E8EC"/>
                </a:solidFill>
                <a:latin typeface="Noto Sans SC"/>
              </a:defRPr>
            </a:pPr>
            <a:r>
              <a:t>PENDING，保留角度，等云端回调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56692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E8E8EC"/>
                </a:solidFill>
                <a:latin typeface="Noto Sans SC"/>
              </a:defRPr>
            </a:pPr>
            <a:r>
              <a:t>⏳ 等待确认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8978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云端确认 FIST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11680" y="58978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0480" y="58978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conf ≥ 0.7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0" y="5897880"/>
            <a:ext cx="4114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E8E8EC"/>
                </a:solidFill>
                <a:latin typeface="Noto Sans SC"/>
              </a:defRPr>
            </a:pPr>
            <a:r>
              <a:t>执行释放钩子，写入COOLDOWN计时器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8978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E8E8EC"/>
                </a:solidFill>
                <a:latin typeface="Noto Sans SC"/>
              </a:defRPr>
            </a:pPr>
            <a:r>
              <a:t>✓ 释放钩子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61264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4A7FB5"/>
                </a:solidFill>
                <a:latin typeface="Consolas"/>
              </a:defRPr>
            </a:pPr>
            <a:r>
              <a:t>云端超时 2s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11680" y="61264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0" y="61264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无响应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0" y="6126480"/>
            <a:ext cx="4114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E8E8EC"/>
                </a:solidFill>
                <a:latin typeface="Noto Sans SC"/>
              </a:defRPr>
            </a:pPr>
            <a:r>
              <a:t>降级：本地FIST直接执行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61264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E8E8EC"/>
                </a:solidFill>
                <a:latin typeface="Noto Sans SC"/>
              </a:defRPr>
            </a:pPr>
            <a:r>
              <a:t>⚡ 降级执行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355080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C57B8A"/>
                </a:solidFill>
                <a:latin typeface="Consolas"/>
              </a:defRPr>
            </a:pPr>
            <a:r>
              <a:t>本地≠云端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11680" y="63550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FIST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80" y="63550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Consolas"/>
              </a:defRPr>
            </a:pPr>
            <a:r>
              <a:t>OPEN_PALM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0" y="6355080"/>
            <a:ext cx="4114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E8E8EC"/>
                </a:solidFill>
                <a:latin typeface="Noto Sans SC"/>
              </a:defRPr>
            </a:pPr>
            <a:r>
              <a:t>安全优先：放弃本次触发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63550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E8E8EC"/>
                </a:solidFill>
                <a:latin typeface="Noto Sans SC"/>
              </a:defRPr>
            </a:pPr>
            <a:r>
              <a:t>✗ 放弃本次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675120"/>
            <a:ext cx="12191695" cy="18288"/>
          </a:xfrm>
          <a:prstGeom prst="rect">
            <a:avLst/>
          </a:prstGeom>
          <a:solidFill>
            <a:srgbClr val="C5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000" b="0" i="0">
                <a:solidFill>
                  <a:srgbClr val="555A70"/>
                </a:solidFill>
                <a:latin typeface="Consola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Consolas"/>
              </a:defRPr>
            </a:pPr>
            <a:r>
              <a:t>DESIGN PATTERNS · STRATEGY + SINGLETON + OBSERVER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3200" b="1" i="0">
                <a:solidFill>
                  <a:srgbClr val="D4A843"/>
                </a:solidFill>
                <a:latin typeface="Noto Sans SC"/>
              </a:defRPr>
            </a:pPr>
            <a:r>
              <a:t>三种经典设计模式 · 工程级实践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3657600" cy="51206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2800" b="0" i="0">
                <a:solidFill>
                  <a:srgbClr val="4A7FB5"/>
                </a:solidFill>
                <a:latin typeface="Noto Sans SC"/>
              </a:defRPr>
            </a:pPr>
            <a: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2200" b="1" i="0">
                <a:solidFill>
                  <a:srgbClr val="4A7FB5"/>
                </a:solidFill>
                <a:latin typeface="Consolas"/>
              </a:defRPr>
            </a:pPr>
            <a:r>
              <a:t>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0" i="0">
                <a:solidFill>
                  <a:srgbClr val="8A8FA8"/>
                </a:solidFill>
                <a:latin typeface="Noto Sans SC"/>
              </a:defRPr>
            </a:pPr>
            <a:r>
              <a:t>策略模式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400" b="1" i="0">
                <a:solidFill>
                  <a:srgbClr val="E8E8EC"/>
                </a:solidFill>
                <a:latin typeface="Noto Sans SC"/>
              </a:defRPr>
            </a:pPr>
            <a:r>
              <a:t>应用: IGestureRecognizer 纯虚接口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LocalGestureRecognizer / CloudGestureRecognizer / AIGestureRecognizer 三种具体策略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31089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1" i="0">
                <a:solidFill>
                  <a:srgbClr val="4A7FB5"/>
                </a:solidFill>
                <a:latin typeface="Noto Sans SC"/>
              </a:defRPr>
            </a:pPr>
            <a:r>
              <a:t>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• 新增识别器无需修改 GestureFusion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• 各策略独立编译/链接，互不耦合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• 通过 start() 返回值自动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 i="0">
                <a:solidFill>
                  <a:srgbClr val="9AB0C8"/>
                </a:solidFill>
                <a:latin typeface="Consolas"/>
              </a:defRPr>
            </a:pPr>
            <a:r>
              <a:t>class IGestureRecognizer {</a:t>
            </a:r>
            <a:br/>
            <a:r>
              <a:t>  virtual bool start() = 0;</a:t>
            </a:r>
            <a:br/>
            <a:r>
              <a:t>  virtual void pushFrame(...) = 0;</a:t>
            </a:r>
            <a:br/>
            <a:r>
              <a:t>  ...</a:t>
            </a:r>
            <a:br/>
            <a:r>
              <a:t>};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371600"/>
            <a:ext cx="3657600" cy="51206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508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2800" b="0" i="0">
                <a:solidFill>
                  <a:srgbClr val="D4A843"/>
                </a:solidFill>
                <a:latin typeface="Noto Sans SC"/>
              </a:defRPr>
            </a:pPr>
            <a: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19202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2200" b="1" i="0">
                <a:solidFill>
                  <a:srgbClr val="D4A843"/>
                </a:solidFill>
                <a:latin typeface="Consolas"/>
              </a:defRPr>
            </a:pPr>
            <a:r>
              <a:t>Singleton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2402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0" i="0">
                <a:solidFill>
                  <a:srgbClr val="8A8FA8"/>
                </a:solidFill>
                <a:latin typeface="Noto Sans SC"/>
              </a:defRPr>
            </a:pPr>
            <a:r>
              <a:t>单例模式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6060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400" b="1" i="0">
                <a:solidFill>
                  <a:srgbClr val="E8E8EC"/>
                </a:solidFill>
                <a:latin typeface="Noto Sans SC"/>
              </a:defRPr>
            </a:pPr>
            <a:r>
              <a:t>应用: GestureFusion 全局唯一融合器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8803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集中管理所有识别引擎状态、融合决策逻辑和冷却计时器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383280"/>
            <a:ext cx="31089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1" i="0">
                <a:solidFill>
                  <a:srgbClr val="D4A843"/>
                </a:solidFill>
                <a:latin typeface="Noto Sans SC"/>
              </a:defRPr>
            </a:pPr>
            <a:r>
              <a:t>优势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5661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• 确保全局唯一，消除多实例不一致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37947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• 拷贝构造/赋值 = 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023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• 延迟初始化注入云端凭证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43484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 i="0">
                <a:solidFill>
                  <a:srgbClr val="9AB0C8"/>
                </a:solidFill>
                <a:latin typeface="Consolas"/>
              </a:defRPr>
            </a:pPr>
            <a:r>
              <a:t>class GestureFusion {</a:t>
            </a:r>
            <a:br/>
            <a:r>
              <a:t>  static GestureFusion* getInstance();</a:t>
            </a:r>
            <a:br/>
            <a:r>
              <a:t>  GestureCommand tick(float dt);</a:t>
            </a:r>
            <a:br/>
            <a:r>
              <a:t>  ...</a:t>
            </a:r>
            <a:br/>
            <a:r>
              <a:t>};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371600"/>
            <a:ext cx="3657600" cy="51206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508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2800" b="0" i="0">
                <a:solidFill>
                  <a:srgbClr val="5BAF8A"/>
                </a:solidFill>
                <a:latin typeface="Noto Sans SC"/>
              </a:defRPr>
            </a:pPr>
            <a:r>
              <a:t>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2200" b="1" i="0">
                <a:solidFill>
                  <a:srgbClr val="5BAF8A"/>
                </a:solidFill>
                <a:latin typeface="Consolas"/>
              </a:defRPr>
            </a:pPr>
            <a:r>
              <a:t>Observer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24028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0" i="0">
                <a:solidFill>
                  <a:srgbClr val="8A8FA8"/>
                </a:solidFill>
                <a:latin typeface="Noto Sans SC"/>
              </a:defRPr>
            </a:pPr>
            <a:r>
              <a:t>观察者模式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60604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400" b="1" i="0">
                <a:solidFill>
                  <a:srgbClr val="E8E8EC"/>
                </a:solidFill>
                <a:latin typeface="Noto Sans SC"/>
              </a:defRPr>
            </a:pPr>
            <a:r>
              <a:t>应用: ResultCallback 异步通知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88036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识别器通过 std::function 回调通知融合器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383280"/>
            <a:ext cx="310896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1" i="0">
                <a:solidFill>
                  <a:srgbClr val="5BAF8A"/>
                </a:solidFill>
                <a:latin typeface="Noto Sans SC"/>
              </a:defRPr>
            </a:pPr>
            <a:r>
              <a:t>优势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5661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• 识别线程与游戏线程零阻塞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7947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• std::function + lambda 极简注册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023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• 支持多观察者同时监听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434840"/>
            <a:ext cx="310896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 i="0">
                <a:solidFill>
                  <a:srgbClr val="9AB0C8"/>
                </a:solidFill>
                <a:latin typeface="Consolas"/>
              </a:defRPr>
            </a:pPr>
            <a:r>
              <a:t>recognizer-&gt;setCallback(</a:t>
            </a:r>
            <a:br/>
            <a:r>
              <a:t>  [this](const Result&amp; r) {</a:t>
            </a:r>
            <a:br/>
            <a:r>
              <a:t>    this-&gt;onResult(r);</a:t>
            </a:r>
            <a:br/>
            <a:r>
              <a:t>  });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75120"/>
            <a:ext cx="12191695" cy="18288"/>
          </a:xfrm>
          <a:prstGeom prst="rect">
            <a:avLst/>
          </a:prstGeom>
          <a:solidFill>
            <a:srgbClr val="5BA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000" b="0" i="0">
                <a:solidFill>
                  <a:srgbClr val="555A70"/>
                </a:solidFill>
                <a:latin typeface="Consola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Consolas"/>
              </a:defRPr>
            </a:pPr>
            <a:r>
              <a:t>ARCHITECTURE · 4-LAYER UNIDIRECTIONAL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3200" b="1" i="0">
                <a:solidFill>
                  <a:srgbClr val="6CA0D8"/>
                </a:solidFill>
                <a:latin typeface="Noto Sans SC"/>
              </a:defRPr>
            </a:pPr>
            <a:r>
              <a:t>四层分层架构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9144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27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800" b="1" i="0">
                <a:solidFill>
                  <a:srgbClr val="D4A843"/>
                </a:solidFill>
                <a:latin typeface="Noto Sans SC"/>
              </a:defRPr>
            </a:pPr>
            <a:r>
              <a:t>游戏表现层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9144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D4A843"/>
                </a:solidFill>
                <a:latin typeface="Consolas"/>
              </a:defRPr>
            </a:pPr>
            <a:r>
              <a:t>Game.cpp · Shop.cpp · MainRoot.cpp · Mineral.cpp · MusicPlayer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76272"/>
            <a:ext cx="9144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消费 GestureCommand 驱动钩子动画、矿物回收、商店交易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42316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0" i="0">
                <a:solidFill>
                  <a:srgbClr val="D4A843"/>
                </a:solidFill>
                <a:latin typeface="Consolas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2316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 i="0">
                <a:solidFill>
                  <a:srgbClr val="8A8FA8"/>
                </a:solidFill>
                <a:latin typeface="Noto Sans SC"/>
              </a:defRPr>
            </a:pPr>
            <a:r>
              <a:t>GestureCommand 消费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06040"/>
            <a:ext cx="11247120" cy="9144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4A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27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432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800" b="1" i="0">
                <a:solidFill>
                  <a:srgbClr val="4A7FB5"/>
                </a:solidFill>
                <a:latin typeface="Noto Sans SC"/>
              </a:defRPr>
            </a:pPr>
            <a:r>
              <a:t>融合决策层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9144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4A7FB5"/>
                </a:solidFill>
                <a:latin typeface="Consolas"/>
              </a:defRPr>
            </a:pPr>
            <a:r>
              <a:t>GestureFusion.cpp · GestureData.hpp · COOLDOWN 计时器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19272"/>
            <a:ext cx="9144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协调双引擎识别结果，执行融合决策，输出最终指令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566160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0" i="0">
                <a:solidFill>
                  <a:srgbClr val="D4A843"/>
                </a:solidFill>
                <a:latin typeface="Consolas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56616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 i="0">
                <a:solidFill>
                  <a:srgbClr val="8A8FA8"/>
                </a:solidFill>
                <a:latin typeface="Noto Sans SC"/>
              </a:defRPr>
            </a:pPr>
            <a:r>
              <a:t>ResultCallback / 帧推送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11247120" cy="9144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5BA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27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862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800" b="1" i="0">
                <a:solidFill>
                  <a:srgbClr val="5BAF8A"/>
                </a:solidFill>
                <a:latin typeface="Noto Sans SC"/>
              </a:defRPr>
            </a:pPr>
            <a:r>
              <a:t>识别引擎层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51959"/>
            <a:ext cx="9144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5BAF8A"/>
                </a:solidFill>
                <a:latin typeface="Consolas"/>
              </a:defRPr>
            </a:pPr>
            <a:r>
              <a:t>IGestureRecognizer.hpp · LocalGestureRecognizer · CloudGestureRecognizer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462272"/>
            <a:ext cx="9144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实现策略接口，本地 OpenCV 与云端 HTTP 两种策略独立运行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709159"/>
            <a:ext cx="914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0" i="0">
                <a:solidFill>
                  <a:srgbClr val="D4A843"/>
                </a:solidFill>
                <a:latin typeface="Consolas"/>
              </a:defRPr>
            </a:pPr>
            <a: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709159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 i="0">
                <a:solidFill>
                  <a:srgbClr val="8A8FA8"/>
                </a:solidFill>
                <a:latin typeface="Noto Sans SC"/>
              </a:defRPr>
            </a:pPr>
            <a:r>
              <a:t>HTTP POST · Base64 JPEG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92040"/>
            <a:ext cx="11247120" cy="91440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074920"/>
            <a:ext cx="548640" cy="548640"/>
          </a:xfrm>
          <a:prstGeom prst="ellipse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27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0292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800" b="1" i="0">
                <a:solidFill>
                  <a:srgbClr val="7B6BA0"/>
                </a:solidFill>
                <a:latin typeface="Noto Sans SC"/>
              </a:defRPr>
            </a:pPr>
            <a:r>
              <a:t>云端 AI 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394959"/>
            <a:ext cx="9144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7B6BA0"/>
                </a:solidFill>
                <a:latin typeface="Consolas"/>
              </a:defRPr>
            </a:pPr>
            <a:r>
              <a:t>REST API · libcurl · 21关键点检测 · 置信度输出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605272"/>
            <a:ext cx="9144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Noto Sans SC"/>
              </a:defRPr>
            </a:pPr>
            <a:r>
              <a:t>外部 AI 视觉 API 端点，提供手部关键点检测与手势分类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75120"/>
            <a:ext cx="12191695" cy="18288"/>
          </a:xfrm>
          <a:prstGeom prst="rect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000" b="0" i="0">
                <a:solidFill>
                  <a:srgbClr val="555A70"/>
                </a:solidFill>
                <a:latin typeface="Consola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Consolas"/>
              </a:defRPr>
            </a:pPr>
            <a:r>
              <a:t>PERFORMANCE · 35FPS + 85MS + 92%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3200" b="1" i="0">
                <a:solidFill>
                  <a:srgbClr val="5BAF8A"/>
                </a:solidFill>
                <a:latin typeface="Noto Sans SC"/>
              </a:defRPr>
            </a:pPr>
            <a:r>
              <a:t>三项关键指标全部达标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554480"/>
            <a:ext cx="3474720" cy="256032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8000" b="1" i="0">
                <a:solidFill>
                  <a:srgbClr val="5BAF8A"/>
                </a:solidFill>
                <a:latin typeface="Consolas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0574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0" i="0">
                <a:solidFill>
                  <a:srgbClr val="5BAF8A"/>
                </a:solidFill>
                <a:latin typeface="Consolas"/>
              </a:defRPr>
            </a:pPr>
            <a:r>
              <a:t>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0" i="0">
                <a:solidFill>
                  <a:srgbClr val="8A8FA8"/>
                </a:solidFill>
                <a:latin typeface="Noto Sans SC"/>
              </a:defRPr>
            </a:pPr>
            <a:r>
              <a:t>游戏帧率</a:t>
            </a:r>
            <a:br/>
            <a:r>
              <a:t>目标 ≥ 30FPS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1" i="0">
                <a:solidFill>
                  <a:srgbClr val="5BAF8A"/>
                </a:solidFill>
                <a:latin typeface="Noto Sans SC"/>
              </a:defRPr>
            </a:pPr>
            <a:r>
              <a:t>✓ 达标 +17%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554480"/>
            <a:ext cx="3474720" cy="256032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6916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8000" b="1" i="0">
                <a:solidFill>
                  <a:srgbClr val="D4A843"/>
                </a:solidFill>
                <a:latin typeface="Consolas"/>
              </a:defRPr>
            </a:pPr>
            <a: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0574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0" i="0">
                <a:solidFill>
                  <a:srgbClr val="D4A843"/>
                </a:solidFill>
                <a:latin typeface="Consolas"/>
              </a:defRPr>
            </a:pPr>
            <a:r>
              <a:t>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88036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0" i="0">
                <a:solidFill>
                  <a:srgbClr val="8A8FA8"/>
                </a:solidFill>
                <a:latin typeface="Noto Sans SC"/>
              </a:defRPr>
            </a:pPr>
            <a:r>
              <a:t>识别延迟</a:t>
            </a:r>
            <a:br/>
            <a:r>
              <a:t>目标 ≤ 100ms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657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1" i="0">
                <a:solidFill>
                  <a:srgbClr val="D4A843"/>
                </a:solidFill>
                <a:latin typeface="Noto Sans SC"/>
              </a:defRPr>
            </a:pPr>
            <a:r>
              <a:t>✓ 达标 -15%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1554480"/>
            <a:ext cx="3474720" cy="256032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6916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8000" b="1" i="0">
                <a:solidFill>
                  <a:srgbClr val="4A7FB5"/>
                </a:solidFill>
                <a:latin typeface="Consolas"/>
              </a:defRPr>
            </a:pPr>
            <a:r>
              <a:t>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20574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0" i="0">
                <a:solidFill>
                  <a:srgbClr val="4A7FB5"/>
                </a:solidFill>
                <a:latin typeface="Consolas"/>
              </a:defRPr>
            </a:pPr>
            <a: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88036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0" i="0">
                <a:solidFill>
                  <a:srgbClr val="8A8FA8"/>
                </a:solidFill>
                <a:latin typeface="Noto Sans SC"/>
              </a:defRPr>
            </a:pPr>
            <a:r>
              <a:t>识别准确率</a:t>
            </a:r>
            <a:br/>
            <a:r>
              <a:t>目标 ≥ 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657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1" i="0">
                <a:solidFill>
                  <a:srgbClr val="4A7FB5"/>
                </a:solidFill>
                <a:latin typeface="Noto Sans SC"/>
              </a:defRPr>
            </a:pPr>
            <a:r>
              <a:t>✓ 达标 +2%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5577840" cy="210312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8056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400" b="1" i="0">
                <a:solidFill>
                  <a:srgbClr val="E8E8EC"/>
                </a:solidFill>
                <a:latin typeface="Noto Sans SC"/>
              </a:defRPr>
            </a:pPr>
            <a:r>
              <a:t>功能测试覆盖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006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手势识别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0060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摄像头采集手部动作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8006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✓ OPEN_PALM/FIST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10235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角度控制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102352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倾斜手部 ±30°, ±60°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10235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✓ 钩子跟随角度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04104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释放钩子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5404104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握拳动作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404104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✓ 释放并抓取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705856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引爆炸药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705856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长握 1.5s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705856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✓ 爆炸效果触发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0760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商店购买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6007608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点击道具按钮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600760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✓ 金币减少生效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3093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键盘兜底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630936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断开摄像头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63093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⚡ 自动切换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389120"/>
            <a:ext cx="5577840" cy="210312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48056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400" b="1" i="0">
                <a:solidFill>
                  <a:srgbClr val="E8E8EC"/>
                </a:solidFill>
                <a:latin typeface="Noto Sans SC"/>
              </a:defRPr>
            </a:pPr>
            <a:r>
              <a:t>边界鲁棒性测试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8006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无手部输入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80060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摄像头对准空白区域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8006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✓ 指令无效暂停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10235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剧烈光照变化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102352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调整 50~500 lux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510235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✓ 识别保持稳定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5404104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多人同框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5404104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3人同时出现画面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5404104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✓ 优先最大手部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5705856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网络断连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5705856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断开 WiFi 连接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5705856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⚡ 自动降级本地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600760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快速手势切换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6007608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张开↔握拳 5次/s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600760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✓ 去抖稳定输出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60" y="63093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E8E8EC"/>
                </a:solidFill>
                <a:latin typeface="Noto Sans SC"/>
              </a:defRPr>
            </a:pPr>
            <a:r>
              <a:t>部分遮挡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0" y="630936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000" b="0" i="0">
                <a:solidFill>
                  <a:srgbClr val="8A8FA8"/>
                </a:solidFill>
                <a:latin typeface="Noto Sans SC"/>
              </a:defRPr>
            </a:pPr>
            <a:r>
              <a:t>遮挡30%手部区域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63093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100" b="0" i="0">
                <a:solidFill>
                  <a:srgbClr val="5BAF8A"/>
                </a:solidFill>
                <a:latin typeface="Noto Sans SC"/>
              </a:defRPr>
            </a:pPr>
            <a:r>
              <a:t>⚠ 置信度过滤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75120"/>
            <a:ext cx="12191695" cy="18288"/>
          </a:xfrm>
          <a:prstGeom prst="rect">
            <a:avLst/>
          </a:prstGeom>
          <a:solidFill>
            <a:srgbClr val="4A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000" b="0" i="0">
                <a:solidFill>
                  <a:srgbClr val="555A70"/>
                </a:solidFill>
                <a:latin typeface="Consola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100" b="0" i="0">
                <a:solidFill>
                  <a:srgbClr val="8A8FA8"/>
                </a:solidFill>
                <a:latin typeface="Consolas"/>
              </a:defRPr>
            </a:pPr>
            <a:r>
              <a:t>INNOVATION · DUAL-ENGINE + GESTURE-AS-COMMAND + ASYNC + DEBOUNCE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3200" b="1" i="0">
                <a:solidFill>
                  <a:srgbClr val="D4A843"/>
                </a:solidFill>
                <a:latin typeface="Noto Sans SC"/>
              </a:defRPr>
            </a:pPr>
            <a:r>
              <a:t>四大核心技术突破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577840" cy="23774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600" b="0" i="0">
                <a:solidFill>
                  <a:srgbClr val="4A7FB5"/>
                </a:solidFill>
                <a:latin typeface="Noto Sans SC"/>
              </a:defRPr>
            </a:pPr>
            <a: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 i="0">
                <a:solidFill>
                  <a:srgbClr val="E8E8EC"/>
                </a:solidFill>
                <a:latin typeface="Noto Sans SC"/>
              </a:defRPr>
            </a:pPr>
            <a:r>
              <a:t>双引擎融合架构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10512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 i="1">
                <a:solidFill>
                  <a:srgbClr val="4A7FB5"/>
                </a:solidFill>
                <a:latin typeface="Consolas"/>
              </a:defRPr>
            </a:pPr>
            <a:r>
              <a:t>LOCAL + CLOUD COLLABORATIVE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创新性融合本地 OpenCV 高频识别与云端 AI 精确校验。OPEN_PALM 模式本地引擎每 30ms 驱动角度，FIST 触发后云端二次确认——兼顾实时性与准确性。云端不可用时自动降级，系统鲁棒性不受影响。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4A7FB5"/>
                </a:solidFill>
                <a:latin typeface="Consolas"/>
              </a:defRPr>
            </a:pPr>
            <a:r>
              <a:t>双识别器并行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3291840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4A7FB5"/>
                </a:solidFill>
                <a:latin typeface="Consolas"/>
              </a:defRPr>
            </a:pPr>
            <a:r>
              <a:t>安全优先策略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291840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4A7FB5"/>
                </a:solidFill>
                <a:latin typeface="Consolas"/>
              </a:defRPr>
            </a:pPr>
            <a:r>
              <a:t>自动降级回退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3291840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4A7FB5"/>
                </a:solidFill>
                <a:latin typeface="Consolas"/>
              </a:defRPr>
            </a:pPr>
            <a:r>
              <a:t>置信度加权融合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5577840" cy="23774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08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600" b="0" i="0">
                <a:solidFill>
                  <a:srgbClr val="D4A843"/>
                </a:solidFill>
                <a:latin typeface="Noto Sans SC"/>
              </a:defRPr>
            </a:pPr>
            <a:r>
              <a:t>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463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 i="0">
                <a:solidFill>
                  <a:srgbClr val="E8E8EC"/>
                </a:solidFill>
                <a:latin typeface="Noto Sans SC"/>
              </a:defRPr>
            </a:pPr>
            <a:r>
              <a:t>手势即指令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810512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 i="1">
                <a:solidFill>
                  <a:srgbClr val="D4A843"/>
                </a:solidFill>
                <a:latin typeface="Consolas"/>
              </a:defRPr>
            </a:pPr>
            <a:r>
              <a:t>GESTURE-AS-COMMAND PARADIGM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5740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摒弃传统键盘鼠标中介，建立从手势语义到游戏操作的直接映射管道：张开→瞄准·握拳→释放·长握1.5s→引爆·倾斜→方向控制。配合键盘兜底模式保证可玩性。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291840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D4A843"/>
                </a:solidFill>
                <a:latin typeface="Consolas"/>
              </a:defRPr>
            </a:pPr>
            <a:r>
              <a:t>四种手势指令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3291840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D4A843"/>
                </a:solidFill>
                <a:latin typeface="Consolas"/>
              </a:defRPr>
            </a:pPr>
            <a:r>
              <a:t>键盘智能兜底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3291840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D4A843"/>
                </a:solidFill>
                <a:latin typeface="Consolas"/>
              </a:defRPr>
            </a:pPr>
            <a:r>
              <a:t>自然交互范式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61320" y="3291840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D4A843"/>
                </a:solidFill>
                <a:latin typeface="Consolas"/>
              </a:defRPr>
            </a:pPr>
            <a:r>
              <a:t>无硬件依赖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77639"/>
            <a:ext cx="5577840" cy="23774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600" b="0" i="0">
                <a:solidFill>
                  <a:srgbClr val="5BAF8A"/>
                </a:solidFill>
                <a:latin typeface="Noto Sans SC"/>
              </a:defRPr>
            </a:pPr>
            <a: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69079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 i="0">
                <a:solidFill>
                  <a:srgbClr val="E8E8EC"/>
                </a:solidFill>
                <a:latin typeface="Noto Sans SC"/>
              </a:defRPr>
            </a:pPr>
            <a:r>
              <a:t>异步非阻塞架构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16552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 i="1">
                <a:solidFill>
                  <a:srgbClr val="5BAF8A"/>
                </a:solidFill>
                <a:latin typeface="Consolas"/>
              </a:defRPr>
            </a:pPr>
            <a:r>
              <a:t>ASYNC + NON-BLOCKING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6344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识别线程与游戏 35FPS 主循环完全解耦。pushFrame 即时返回，结果通过 ResultCallback 异步通知。std::atomic 保证跨线程安全，零互斥锁设计避免主线程等待。云端 HTTP 同样异步。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897879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BAF8A"/>
                </a:solidFill>
                <a:latin typeface="Consolas"/>
              </a:defRPr>
            </a:pPr>
            <a:r>
              <a:t>std::atomic 无锁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57400" y="5897879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BAF8A"/>
                </a:solidFill>
                <a:latin typeface="Consolas"/>
              </a:defRPr>
            </a:pPr>
            <a:r>
              <a:t>std::function 回调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5897879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BAF8A"/>
                </a:solidFill>
                <a:latin typeface="Consolas"/>
              </a:defRPr>
            </a:pPr>
            <a:r>
              <a:t>零互斥锁设计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09159" y="5897879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5BAF8A"/>
                </a:solidFill>
                <a:latin typeface="Consolas"/>
              </a:defRPr>
            </a:pPr>
            <a:r>
              <a:t>智能指针管理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977639"/>
            <a:ext cx="5577840" cy="2377440"/>
          </a:xfrm>
          <a:prstGeom prst="roundRect">
            <a:avLst/>
          </a:prstGeom>
          <a:solidFill>
            <a:srgbClr val="1E2340"/>
          </a:solidFill>
          <a:ln w="1270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114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600" b="0" i="0">
                <a:solidFill>
                  <a:srgbClr val="7B6BA0"/>
                </a:solidFill>
                <a:latin typeface="Noto Sans SC"/>
              </a:defRPr>
            </a:pPr>
            <a:r>
              <a:t>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069079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 i="0">
                <a:solidFill>
                  <a:srgbClr val="E8E8EC"/>
                </a:solidFill>
                <a:latin typeface="Noto Sans SC"/>
              </a:defRPr>
            </a:pPr>
            <a:r>
              <a:t>状态机去抖设计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416552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900" b="0" i="1">
                <a:solidFill>
                  <a:srgbClr val="7B6BA0"/>
                </a:solidFill>
                <a:latin typeface="Consolas"/>
              </a:defRPr>
            </a:pPr>
            <a:r>
              <a:t>FSM + EMA TEMPORAL FILTERING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66344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200" b="0" i="0">
                <a:solidFill>
                  <a:srgbClr val="8A8FA8"/>
                </a:solidFill>
                <a:latin typeface="Noto Sans SC"/>
              </a:defRPr>
            </a:pPr>
            <a:r>
              <a:t>手势状态管理采用有限状态机 (FSM) 建模：IDLE→AIMING→LOCKED→RELEASED。配合 EMA 时域滤波消除单帧识别抖动——手势需连续≥3帧一致才切换，角度增量限幅≤5°/帧。COOLDOWN (0.8s) 防连击，BOMB_HOLD (1.5s) 区分释放/引爆意图。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5897879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7B6BA0"/>
                </a:solidFill>
                <a:latin typeface="Consolas"/>
              </a:defRPr>
            </a:pPr>
            <a:r>
              <a:t>FSM 状态建模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9560" y="5897879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7B6BA0"/>
                </a:solidFill>
                <a:latin typeface="Consolas"/>
              </a:defRPr>
            </a:pPr>
            <a:r>
              <a:t>EMA 指数平滑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5897879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7B6BA0"/>
                </a:solidFill>
                <a:latin typeface="Consolas"/>
              </a:defRPr>
            </a:pPr>
            <a:r>
              <a:t>0.8s 冷却防连击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61320" y="5897879"/>
            <a:ext cx="1188720" cy="274320"/>
          </a:xfrm>
          <a:prstGeom prst="roundRect">
            <a:avLst/>
          </a:prstGeom>
          <a:solidFill>
            <a:srgbClr val="0A0E27"/>
          </a:solidFill>
          <a:ln w="635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7B6BA0"/>
                </a:solidFill>
                <a:latin typeface="Consolas"/>
              </a:defRPr>
            </a:pPr>
            <a:r>
              <a:t>1.5s 长握引爆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75120"/>
            <a:ext cx="12191695" cy="18288"/>
          </a:xfrm>
          <a:prstGeom prst="rect">
            <a:avLst/>
          </a:prstGeom>
          <a:solidFill>
            <a:srgbClr val="7B6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000" b="0" i="0">
                <a:solidFill>
                  <a:srgbClr val="555A70"/>
                </a:solidFill>
                <a:latin typeface="Consola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601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9600" b="1" i="0">
                <a:solidFill>
                  <a:srgbClr val="D4A843"/>
                </a:solidFill>
                <a:latin typeface="Noto Sans SC"/>
              </a:defRPr>
            </a:pPr>
            <a:r>
              <a:t>谢 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91840"/>
            <a:ext cx="9601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3200" b="0" i="0">
                <a:solidFill>
                  <a:srgbClr val="E8E8EC"/>
                </a:solidFill>
                <a:latin typeface="Noto Sans SC"/>
              </a:defRPr>
            </a:pPr>
            <a:r>
              <a:t>黄金矿工 · 手势识别版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800" b="0" i="0">
                <a:solidFill>
                  <a:srgbClr val="6CA0D8"/>
                </a:solidFill>
                <a:latin typeface="Consolas"/>
              </a:defRPr>
            </a:pPr>
            <a:r>
              <a:t>github.com/mzk-C4/gold-miner-vision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572000"/>
            <a:ext cx="1188720" cy="320040"/>
          </a:xfrm>
          <a:prstGeom prst="roundRect">
            <a:avLst/>
          </a:prstGeom>
          <a:solidFill>
            <a:srgbClr val="1E2340"/>
          </a:solidFill>
          <a:ln w="635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4A843"/>
                </a:solidFill>
                <a:latin typeface="Noto Sans SC"/>
              </a:defRPr>
            </a:pPr>
            <a:r>
              <a:t>Cocos2d-x 4.0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572000"/>
            <a:ext cx="1188720" cy="320040"/>
          </a:xfrm>
          <a:prstGeom prst="roundRect">
            <a:avLst/>
          </a:prstGeom>
          <a:solidFill>
            <a:srgbClr val="1E2340"/>
          </a:solidFill>
          <a:ln w="6350">
            <a:solidFill>
              <a:srgbClr val="4A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4A7FB5"/>
                </a:solidFill>
                <a:latin typeface="Noto Sans SC"/>
              </a:defRPr>
            </a:pPr>
            <a:r>
              <a:t>OpenCV 4.5.5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4572000"/>
            <a:ext cx="1188720" cy="320040"/>
          </a:xfrm>
          <a:prstGeom prst="roundRect">
            <a:avLst/>
          </a:prstGeom>
          <a:solidFill>
            <a:srgbClr val="1E2340"/>
          </a:solidFill>
          <a:ln w="6350">
            <a:solidFill>
              <a:srgbClr val="5BA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BAF8A"/>
                </a:solidFill>
                <a:latin typeface="Noto Sans SC"/>
              </a:defRPr>
            </a:pPr>
            <a:r>
              <a:t>C++17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572000"/>
            <a:ext cx="1188720" cy="320040"/>
          </a:xfrm>
          <a:prstGeom prst="roundRect">
            <a:avLst/>
          </a:prstGeom>
          <a:solidFill>
            <a:srgbClr val="1E2340"/>
          </a:solidFill>
          <a:ln w="6350">
            <a:solidFill>
              <a:srgbClr val="7B6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B6BA0"/>
                </a:solidFill>
                <a:latin typeface="Noto Sans SC"/>
              </a:defRPr>
            </a:pPr>
            <a:r>
              <a:t>Cloud AI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572000"/>
            <a:ext cx="1188720" cy="320040"/>
          </a:xfrm>
          <a:prstGeom prst="roundRect">
            <a:avLst/>
          </a:prstGeom>
          <a:solidFill>
            <a:srgbClr val="1E2340"/>
          </a:solidFill>
          <a:ln w="6350">
            <a:solidFill>
              <a:srgbClr val="C5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57B8A"/>
                </a:solidFill>
                <a:latin typeface="Noto Sans SC"/>
              </a:defRPr>
            </a:pPr>
            <a:r>
              <a:t>libcurl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601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400" b="0" i="0">
                <a:solidFill>
                  <a:srgbClr val="8A8FA8"/>
                </a:solidFill>
                <a:latin typeface="Noto Sans SC"/>
              </a:defRPr>
            </a:pPr>
            <a:r>
              <a:t>mzk-C4 · 2026</a:t>
            </a:r>
          </a:p>
        </p:txBody>
      </p:sp>
      <p:pic>
        <p:nvPicPr>
          <p:cNvPr id="11" name="Picture 10" descr="gold-lar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760720"/>
            <a:ext cx="1196698" cy="1188720"/>
          </a:xfrm>
          <a:prstGeom prst="rect">
            <a:avLst/>
          </a:prstGeom>
        </p:spPr>
      </p:pic>
      <p:pic>
        <p:nvPicPr>
          <p:cNvPr id="12" name="Picture 11" descr="diamond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5760720"/>
            <a:ext cx="808330" cy="777240"/>
          </a:xfrm>
          <a:prstGeom prst="rect">
            <a:avLst/>
          </a:prstGeom>
        </p:spPr>
      </p:pic>
      <p:pic>
        <p:nvPicPr>
          <p:cNvPr id="13" name="Picture 12" descr="gen-p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5760720"/>
            <a:ext cx="819573" cy="914400"/>
          </a:xfrm>
          <a:prstGeom prst="rect">
            <a:avLst/>
          </a:prstGeom>
        </p:spPr>
      </p:pic>
      <p:pic>
        <p:nvPicPr>
          <p:cNvPr id="14" name="Picture 13" descr="gen-dynam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5760720"/>
            <a:ext cx="462280" cy="960120"/>
          </a:xfrm>
          <a:prstGeom prst="rect">
            <a:avLst/>
          </a:prstGeom>
        </p:spPr>
      </p:pic>
      <p:pic>
        <p:nvPicPr>
          <p:cNvPr id="15" name="Picture 14" descr="gold-nugget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5760720"/>
            <a:ext cx="696686" cy="731520"/>
          </a:xfrm>
          <a:prstGeom prst="rect">
            <a:avLst/>
          </a:prstGeom>
        </p:spPr>
      </p:pic>
      <p:pic>
        <p:nvPicPr>
          <p:cNvPr id="16" name="Picture 15" descr="treas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5760720"/>
            <a:ext cx="725714" cy="914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675120"/>
            <a:ext cx="12191695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  <a:defRPr sz="1000" b="0" i="0">
                <a:solidFill>
                  <a:srgbClr val="555A70"/>
                </a:solidFill>
                <a:latin typeface="Consola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