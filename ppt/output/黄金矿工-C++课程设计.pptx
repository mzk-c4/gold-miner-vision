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800" b="1">
                <a:solidFill>
                  <a:srgbClr val="D4A843"/>
                </a:solidFill>
                <a:latin typeface="Arial"/>
              </a:defRPr>
            </a:pPr>
            <a:r>
              <a:t>黄金矿工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017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E8E8EC"/>
                </a:solidFill>
                <a:latin typeface="Arial"/>
              </a:defRPr>
            </a:pPr>
            <a:r>
              <a:t>手势识别版 · C++ 课程设计汇报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CA0D8"/>
                </a:solidFill>
                <a:latin typeface="Consolas"/>
              </a:defRPr>
            </a:pPr>
            <a:r>
              <a:t>GOLD MINER · VISION EDITION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A8FA8"/>
                </a:solidFill>
                <a:latin typeface="Arial"/>
              </a:defRPr>
            </a:pPr>
            <a:r>
              <a:t>C++17 · Cocos2d-x 4.0 · OpenCV 4.5 · CMake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CA0D8"/>
                </a:solidFill>
                <a:latin typeface="Consolas"/>
              </a:defRPr>
            </a:pPr>
            <a:r>
              <a:t>github.com/mzk-C4/gold-miner-vision  | 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60320" y="5669280"/>
            <a:ext cx="1188720" cy="274320"/>
          </a:xfrm>
          <a:prstGeom prst="roundRect">
            <a:avLst/>
          </a:prstGeom>
          <a:solidFill>
            <a:srgbClr val="0A0E27"/>
          </a:solidFill>
          <a:ln w="1270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D4A843"/>
                </a:solidFill>
                <a:latin typeface="Arial"/>
              </a:defRPr>
            </a:pPr>
            <a:r>
              <a:t>Cocos2d-x 4.0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23360" y="5669280"/>
            <a:ext cx="1188720" cy="274320"/>
          </a:xfrm>
          <a:prstGeom prst="roundRect">
            <a:avLst/>
          </a:prstGeom>
          <a:solidFill>
            <a:srgbClr val="0A0E27"/>
          </a:solidFill>
          <a:ln w="12700">
            <a:solidFill>
              <a:srgbClr val="4A7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4A7FB5"/>
                </a:solidFill>
                <a:latin typeface="Arial"/>
              </a:defRPr>
            </a:pPr>
            <a:r>
              <a:t>OpenCV 4.5.5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0" y="5669280"/>
            <a:ext cx="1188720" cy="274320"/>
          </a:xfrm>
          <a:prstGeom prst="roundRect">
            <a:avLst/>
          </a:prstGeom>
          <a:solidFill>
            <a:srgbClr val="0A0E27"/>
          </a:solidFill>
          <a:ln w="12700">
            <a:solidFill>
              <a:srgbClr val="5BA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5BAF8A"/>
                </a:solidFill>
                <a:latin typeface="Arial"/>
              </a:defRPr>
            </a:pPr>
            <a:r>
              <a:t>C++17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0" y="5669280"/>
            <a:ext cx="1188720" cy="274320"/>
          </a:xfrm>
          <a:prstGeom prst="roundRect">
            <a:avLst/>
          </a:prstGeom>
          <a:solidFill>
            <a:srgbClr val="0A0E27"/>
          </a:solidFill>
          <a:ln w="12700">
            <a:solidFill>
              <a:srgbClr val="7B6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7B6BA0"/>
                </a:solidFill>
                <a:latin typeface="Arial"/>
              </a:defRPr>
            </a:pPr>
            <a:r>
              <a:t>CMake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0" y="5669280"/>
            <a:ext cx="1188720" cy="274320"/>
          </a:xfrm>
          <a:prstGeom prst="roundRect">
            <a:avLst/>
          </a:prstGeom>
          <a:solidFill>
            <a:srgbClr val="0A0E27"/>
          </a:solidFill>
          <a:ln w="12700">
            <a:solidFill>
              <a:srgbClr val="C57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C57B8A"/>
                </a:solidFill>
                <a:latin typeface="Arial"/>
              </a:defRPr>
            </a:pPr>
            <a:r>
              <a:t>Cloud AI</a:t>
            </a:r>
          </a:p>
        </p:txBody>
      </p:sp>
      <p:pic>
        <p:nvPicPr>
          <p:cNvPr id="12" name="Picture 11" descr="mineB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6035040"/>
            <a:ext cx="1828800" cy="731520"/>
          </a:xfrm>
          <a:prstGeom prst="rect">
            <a:avLst/>
          </a:prstGeom>
        </p:spPr>
      </p:pic>
      <p:pic>
        <p:nvPicPr>
          <p:cNvPr id="13" name="Picture 12" descr="o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0" y="6035040"/>
            <a:ext cx="1828800" cy="73152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0" y="6656832"/>
            <a:ext cx="12191695" cy="18288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155680" y="642823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55A70"/>
                </a:solidFill>
                <a:latin typeface="Consolas"/>
              </a:defRPr>
            </a:pPr>
            <a:r>
              <a:t>01/12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8FA8"/>
                </a:solidFill>
                <a:latin typeface="Consolas"/>
              </a:defRPr>
            </a:pPr>
            <a:r>
              <a:t>OVERVIEW · PROJECT + TECH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A7FB5"/>
                </a:solidFill>
                <a:latin typeface="Arial"/>
              </a:defRPr>
            </a:pPr>
            <a:r>
              <a:t>项目全景与技术栈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371600" cy="27432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280160"/>
            <a:ext cx="5669280" cy="5120640"/>
          </a:xfrm>
          <a:prstGeom prst="roundRect">
            <a:avLst/>
          </a:prstGeom>
          <a:solidFill>
            <a:srgbClr val="1E2340"/>
          </a:solidFill>
          <a:ln w="12700">
            <a:solidFill>
              <a:srgbClr val="2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4A843"/>
                </a:solidFill>
                <a:latin typeface="Arial"/>
              </a:defRPr>
            </a:pPr>
            <a:r>
              <a:t>项目三大组成部分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CA0D8"/>
                </a:solidFill>
                <a:latin typeface="Consolas"/>
              </a:defRPr>
            </a:pPr>
            <a:r>
              <a:t>cocos2d-proj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8FA8"/>
                </a:solidFill>
                <a:latin typeface="Arial"/>
              </a:defRPr>
            </a:pPr>
            <a:r>
              <a:t>游戏主程序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87168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8FA8"/>
                </a:solidFill>
                <a:latin typeface="Arial"/>
              </a:defRPr>
            </a:pPr>
            <a:r>
              <a:t>C++17 桌面游戏，基于 Cocos2d-x 4.0 引擎</a:t>
            </a:r>
            <a:br/>
            <a:r>
              <a:t>含手势识别服务、5 关游戏逻辑、商店系统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47472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CA0D8"/>
                </a:solidFill>
                <a:latin typeface="Consolas"/>
              </a:defRPr>
            </a:pPr>
            <a:r>
              <a:t>GestureServer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749039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8FA8"/>
                </a:solidFill>
                <a:latin typeface="Arial"/>
              </a:defRPr>
            </a:pPr>
            <a:r>
              <a:t>手势识别服务端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950208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8FA8"/>
                </a:solidFill>
                <a:latin typeface="Arial"/>
              </a:defRPr>
            </a:pPr>
            <a:r>
              <a:t>Python Flask + MediaPipe 方案</a:t>
            </a:r>
            <a:br/>
            <a:r>
              <a:t>C++ OpenCV 摄像头采集方案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93776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CA0D8"/>
                </a:solidFill>
                <a:latin typeface="Consolas"/>
              </a:defRPr>
            </a:pPr>
            <a:r>
              <a:t>frontend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21208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8FA8"/>
                </a:solidFill>
                <a:latin typeface="Arial"/>
              </a:defRPr>
            </a:pPr>
            <a:r>
              <a:t>PPT 演示前端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413248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8FA8"/>
                </a:solidFill>
                <a:latin typeface="Arial"/>
              </a:defRPr>
            </a:pPr>
            <a:r>
              <a:t>Vite 7 + Tailwind CSS 3 构建</a:t>
            </a:r>
            <a:br/>
            <a:r>
              <a:t>键盘导航 · 触摸滑动 · 自适应布局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89320" y="1371600"/>
            <a:ext cx="45720" cy="493776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17920" y="1280160"/>
            <a:ext cx="5669280" cy="5120640"/>
          </a:xfrm>
          <a:prstGeom prst="roundRect">
            <a:avLst/>
          </a:prstGeom>
          <a:solidFill>
            <a:srgbClr val="1E2340"/>
          </a:solidFill>
          <a:ln w="12700">
            <a:solidFill>
              <a:srgbClr val="2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14173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CA0D8"/>
                </a:solidFill>
                <a:latin typeface="Arial"/>
              </a:defRPr>
            </a:pPr>
            <a:r>
              <a:t>技术栈一览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01168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BAF8A"/>
                </a:solidFill>
                <a:latin typeface="Consolas"/>
              </a:defRPr>
            </a:pPr>
            <a:r>
              <a:t>C++17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212848"/>
            <a:ext cx="5029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8FA8"/>
                </a:solidFill>
                <a:latin typeface="Arial"/>
              </a:defRPr>
            </a:pPr>
            <a:r>
              <a:t>开发语言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23774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8FA8"/>
                </a:solidFill>
                <a:latin typeface="Arial"/>
              </a:defRPr>
            </a:pPr>
            <a:r>
              <a:t>auto / enum class / lambda / std::atomic / constexpr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2770632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843"/>
                </a:solidFill>
                <a:latin typeface="Consolas"/>
              </a:defRPr>
            </a:pPr>
            <a:r>
              <a:t>Cocos2d-x 4.0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2971800"/>
            <a:ext cx="5029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8FA8"/>
                </a:solidFill>
                <a:latin typeface="Arial"/>
              </a:defRPr>
            </a:pPr>
            <a:r>
              <a:t>游戏引擎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313639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8FA8"/>
                </a:solidFill>
                <a:latin typeface="Arial"/>
              </a:defRPr>
            </a:pPr>
            <a:r>
              <a:t>场景管理 / 物理碰撞 / 纹理渲染 / 动画系统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3529584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7FB5"/>
                </a:solidFill>
                <a:latin typeface="Consolas"/>
              </a:defRPr>
            </a:pPr>
            <a:r>
              <a:t>OpenCV 4.5.5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3730752"/>
            <a:ext cx="5029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8FA8"/>
                </a:solidFill>
                <a:latin typeface="Arial"/>
              </a:defRPr>
            </a:pPr>
            <a:r>
              <a:t>手势识别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3895344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8FA8"/>
                </a:solidFill>
                <a:latin typeface="Arial"/>
              </a:defRPr>
            </a:pPr>
            <a:r>
              <a:t>HSV 分割 / findContours / convexHull / 凸缺陷分析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4288536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B6BA0"/>
                </a:solidFill>
                <a:latin typeface="Consolas"/>
              </a:defRPr>
            </a:pPr>
            <a:r>
              <a:t>CMake 3.16+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4489704"/>
            <a:ext cx="5029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8FA8"/>
                </a:solidFill>
                <a:latin typeface="Arial"/>
              </a:defRPr>
            </a:pPr>
            <a:r>
              <a:t>构建系统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4654296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8FA8"/>
                </a:solidFill>
                <a:latin typeface="Arial"/>
              </a:defRPr>
            </a:pPr>
            <a:r>
              <a:t>跨平台构建 / 依赖管理 / Release 优化编译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5047488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57B8A"/>
                </a:solidFill>
                <a:latin typeface="Consolas"/>
              </a:defRPr>
            </a:pPr>
            <a:r>
              <a:t>libcurl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5248656"/>
            <a:ext cx="5029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8FA8"/>
                </a:solidFill>
                <a:latin typeface="Arial"/>
              </a:defRPr>
            </a:pPr>
            <a:r>
              <a:t>HTTP 通信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541324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8FA8"/>
                </a:solidFill>
                <a:latin typeface="Arial"/>
              </a:defRPr>
            </a:pPr>
            <a:r>
              <a:t>云端 AI API 异步请求 / Base64 JPEG 上传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580644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8D3F"/>
                </a:solidFill>
                <a:latin typeface="Consolas"/>
              </a:defRPr>
            </a:pPr>
            <a:r>
              <a:t>MediaPipe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6007607"/>
            <a:ext cx="5029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8FA8"/>
                </a:solidFill>
                <a:latin typeface="Arial"/>
              </a:defRPr>
            </a:pPr>
            <a:r>
              <a:t>AI 识别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0" y="61722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8FA8"/>
                </a:solidFill>
                <a:latin typeface="Arial"/>
              </a:defRPr>
            </a:pPr>
            <a:r>
              <a:t>手部 21 关键点检测 / 手势分类 / MJPEG 视频流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656832"/>
            <a:ext cx="12191695" cy="18288"/>
          </a:xfrm>
          <a:prstGeom prst="rect">
            <a:avLst/>
          </a:prstGeom>
          <a:solidFill>
            <a:srgbClr val="6CA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155680" y="642823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55A70"/>
                </a:solidFill>
                <a:latin typeface="Consolas"/>
              </a:defRPr>
            </a:pPr>
            <a:r>
              <a:t>02/12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8FA8"/>
                </a:solidFill>
                <a:latin typeface="Consolas"/>
              </a:defRPr>
            </a:pPr>
            <a:r>
              <a:t>C++17 · LANGUAGE FEATURES &amp; LEARNING 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5BAF8A"/>
                </a:solidFill>
                <a:latin typeface="Arial"/>
              </a:defRPr>
            </a:pPr>
            <a:r>
              <a:t>C++ 技术栈全景图 — 项目所用 C++ 知识与学习收获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371600" cy="27432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20040" y="1280160"/>
            <a:ext cx="5577840" cy="2423160"/>
          </a:xfrm>
          <a:prstGeom prst="roundRect">
            <a:avLst/>
          </a:prstGeom>
          <a:solidFill>
            <a:srgbClr val="1E2340"/>
          </a:solidFill>
          <a:ln w="12700">
            <a:solidFill>
              <a:srgbClr val="5BA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5BAF8A"/>
                </a:solidFill>
                <a:latin typeface="Arial"/>
              </a:defRPr>
            </a:pPr>
            <a:r>
              <a:t>C++17 核心特性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39"/>
            <a:ext cx="1234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5BAF8A"/>
                </a:solidFill>
                <a:latin typeface="Consolas"/>
              </a:defRPr>
            </a:pPr>
            <a:r>
              <a:t>enum class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691639"/>
            <a:ext cx="1417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A8FA8"/>
                </a:solidFill>
                <a:latin typeface="Arial"/>
              </a:defRPr>
            </a:pPr>
            <a:r>
              <a:t>强类型枚举（GestureType/InputMode）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167128"/>
            <a:ext cx="1234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5BAF8A"/>
                </a:solidFill>
                <a:latin typeface="Consolas"/>
              </a:defRPr>
            </a:pPr>
            <a:r>
              <a:t>std::function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2167128"/>
            <a:ext cx="1417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A8FA8"/>
                </a:solidFill>
                <a:latin typeface="Arial"/>
              </a:defRPr>
            </a:pPr>
            <a:r>
              <a:t>类型安全回调（ResultCallback）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642615"/>
            <a:ext cx="1234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5BAF8A"/>
                </a:solidFill>
                <a:latin typeface="Consolas"/>
              </a:defRPr>
            </a:pPr>
            <a:r>
              <a:t>std::atomic&lt;T&gt;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2642615"/>
            <a:ext cx="1417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A8FA8"/>
                </a:solidFill>
                <a:latin typeface="Arial"/>
              </a:defRPr>
            </a:pPr>
            <a:r>
              <a:t>无锁线程安全（_fistPendingCloud）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118104"/>
            <a:ext cx="1234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5BAF8A"/>
                </a:solidFill>
                <a:latin typeface="Consolas"/>
              </a:defRPr>
            </a:pPr>
            <a:r>
              <a:t>std::mutex + lock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3118104"/>
            <a:ext cx="1417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A8FA8"/>
                </a:solidFill>
                <a:latin typeface="Arial"/>
              </a:defRPr>
            </a:pPr>
            <a:r>
              <a:t>细粒度锁（_localMutex/_cloudMutex）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39" y="1691639"/>
            <a:ext cx="1234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5BAF8A"/>
                </a:solidFill>
                <a:latin typeface="Consolas"/>
              </a:defRPr>
            </a:pPr>
            <a:r>
              <a:t>static constexpr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1691639"/>
            <a:ext cx="1417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A8FA8"/>
                </a:solidFill>
                <a:latin typeface="Arial"/>
              </a:defRPr>
            </a:pPr>
            <a:r>
              <a:t>编译期常量（COOLDOWN/BOMB_HOLD）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39" y="2167128"/>
            <a:ext cx="1234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5BAF8A"/>
                </a:solidFill>
                <a:latin typeface="Consolas"/>
              </a:defRPr>
            </a:pPr>
            <a:r>
              <a:t>= default / = delete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2167128"/>
            <a:ext cx="1417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A8FA8"/>
                </a:solidFill>
                <a:latin typeface="Arial"/>
              </a:defRPr>
            </a:pPr>
            <a:r>
              <a:t>显式构造控制（单例禁拷贝）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39" y="2642615"/>
            <a:ext cx="1234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5BAF8A"/>
                </a:solidFill>
                <a:latin typeface="Consolas"/>
              </a:defRPr>
            </a:pPr>
            <a:r>
              <a:t>std::chrono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2642615"/>
            <a:ext cx="1417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A8FA8"/>
                </a:solidFill>
                <a:latin typeface="Arial"/>
              </a:defRPr>
            </a:pPr>
            <a:r>
              <a:t>时间点与时延计算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39" y="3118104"/>
            <a:ext cx="1234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5BAF8A"/>
                </a:solidFill>
                <a:latin typeface="Consolas"/>
              </a:defRPr>
            </a:pPr>
            <a:r>
              <a:t>auto / lambda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3118104"/>
            <a:ext cx="1417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A8FA8"/>
                </a:solidFill>
                <a:latin typeface="Arial"/>
              </a:defRPr>
            </a:pPr>
            <a:r>
              <a:t>C++11+ 现代语法糖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79" y="1280160"/>
            <a:ext cx="5577840" cy="2423160"/>
          </a:xfrm>
          <a:prstGeom prst="roundRect">
            <a:avLst/>
          </a:prstGeom>
          <a:solidFill>
            <a:srgbClr val="1E2340"/>
          </a:solidFill>
          <a:ln w="12700">
            <a:solidFill>
              <a:srgbClr val="4A7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59" y="13716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4A7FB5"/>
                </a:solidFill>
                <a:latin typeface="Arial"/>
              </a:defRPr>
            </a:pPr>
            <a:r>
              <a:t>面向对象设计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59" y="1691639"/>
            <a:ext cx="1234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A7FB5"/>
                </a:solidFill>
                <a:latin typeface="Consolas"/>
              </a:defRPr>
            </a:pPr>
            <a:r>
              <a:t>纯虚接口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19" y="1691639"/>
            <a:ext cx="1417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A8FA8"/>
                </a:solidFill>
                <a:latin typeface="Arial"/>
              </a:defRPr>
            </a:pPr>
            <a:r>
              <a:t>IGestureRecognizer 定义识别器契约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59" y="2167128"/>
            <a:ext cx="1234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A7FB5"/>
                </a:solidFill>
                <a:latin typeface="Consolas"/>
              </a:defRPr>
            </a:pPr>
            <a:r>
              <a:t>虚析构函数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19" y="2167128"/>
            <a:ext cx="1417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A8FA8"/>
                </a:solidFill>
                <a:latin typeface="Arial"/>
              </a:defRPr>
            </a:pPr>
            <a:r>
              <a:t>virtual ~IGestureRecognizer() = default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59" y="2642615"/>
            <a:ext cx="1234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A7FB5"/>
                </a:solidFill>
                <a:latin typeface="Consolas"/>
              </a:defRPr>
            </a:pPr>
            <a:r>
              <a:t>多态调用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89519" y="2642615"/>
            <a:ext cx="1417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A8FA8"/>
                </a:solidFill>
                <a:latin typeface="Arial"/>
              </a:defRPr>
            </a:pPr>
            <a:r>
              <a:t>基类指针指向子类运行时调度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59" y="3118104"/>
            <a:ext cx="1234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A7FB5"/>
                </a:solidFill>
                <a:latin typeface="Consolas"/>
              </a:defRPr>
            </a:pPr>
            <a:r>
              <a:t>RAII 资源管理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89519" y="3118104"/>
            <a:ext cx="1417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A8FA8"/>
                </a:solidFill>
                <a:latin typeface="Arial"/>
              </a:defRPr>
            </a:pPr>
            <a:r>
              <a:t>start/stop 生命周期自动化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98280" y="1691639"/>
            <a:ext cx="1234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A7FB5"/>
                </a:solidFill>
                <a:latin typeface="Consolas"/>
              </a:defRPr>
            </a:pPr>
            <a:r>
              <a:t>forward declaration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78440" y="1691639"/>
            <a:ext cx="1417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A8FA8"/>
                </a:solidFill>
                <a:latin typeface="Arial"/>
              </a:defRPr>
            </a:pPr>
            <a:r>
              <a:t>头文件最小依赖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98280" y="2167128"/>
            <a:ext cx="1234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A7FB5"/>
                </a:solidFill>
                <a:latin typeface="Consolas"/>
              </a:defRPr>
            </a:pPr>
            <a:r>
              <a:t>const 正确性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378440" y="2167128"/>
            <a:ext cx="1417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A8FA8"/>
                </a:solidFill>
                <a:latin typeface="Arial"/>
              </a:defRPr>
            </a:pPr>
            <a:r>
              <a:t>isRunning() / name() const 限定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98280" y="2642615"/>
            <a:ext cx="1234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A7FB5"/>
                </a:solidFill>
                <a:latin typeface="Consolas"/>
              </a:defRPr>
            </a:pPr>
            <a:r>
              <a:t>mutable 关键字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378440" y="2642615"/>
            <a:ext cx="1417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A8FA8"/>
                </a:solidFill>
                <a:latin typeface="Arial"/>
              </a:defRPr>
            </a:pPr>
            <a:r>
              <a:t>mutable std::mutex 允许 const 加锁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98280" y="3118104"/>
            <a:ext cx="1234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A7FB5"/>
                </a:solidFill>
                <a:latin typeface="Consolas"/>
              </a:defRPr>
            </a:pPr>
            <a:r>
              <a:t>继承层次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378440" y="3118104"/>
            <a:ext cx="1417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A8FA8"/>
                </a:solidFill>
                <a:latin typeface="Arial"/>
              </a:defRPr>
            </a:pPr>
            <a:r>
              <a:t>3 种识别器继承同一抽象基类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20040" y="3886200"/>
            <a:ext cx="5577840" cy="2423160"/>
          </a:xfrm>
          <a:prstGeom prst="roundRect">
            <a:avLst/>
          </a:prstGeom>
          <a:solidFill>
            <a:srgbClr val="1E2340"/>
          </a:solidFill>
          <a:ln w="12700">
            <a:solidFill>
              <a:srgbClr val="7B6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" y="3977639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7B6BA0"/>
                </a:solidFill>
                <a:latin typeface="Arial"/>
              </a:defRPr>
            </a:pPr>
            <a:r>
              <a:t>STL &amp; 标准库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4297680"/>
            <a:ext cx="1234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B6BA0"/>
                </a:solidFill>
                <a:latin typeface="Consolas"/>
              </a:defRPr>
            </a:pPr>
            <a:r>
              <a:t>std::vector&lt;uint8_t&gt;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783080" y="4297680"/>
            <a:ext cx="1417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A8FA8"/>
                </a:solidFill>
                <a:latin typeface="Arial"/>
              </a:defRPr>
            </a:pPr>
            <a:r>
              <a:t>JPEG 帧数据容器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" y="4773168"/>
            <a:ext cx="1234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B6BA0"/>
                </a:solidFill>
                <a:latin typeface="Consolas"/>
              </a:defRPr>
            </a:pPr>
            <a:r>
              <a:t>std::string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783080" y="4773168"/>
            <a:ext cx="1417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A8FA8"/>
                </a:solidFill>
                <a:latin typeface="Arial"/>
              </a:defRPr>
            </a:pPr>
            <a:r>
              <a:t>云端凭证/调试信息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2920" y="5248656"/>
            <a:ext cx="1234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B6BA0"/>
                </a:solidFill>
                <a:latin typeface="Consolas"/>
              </a:defRPr>
            </a:pPr>
            <a:r>
              <a:t>std::unique_ptr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783080" y="5248656"/>
            <a:ext cx="1417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A8FA8"/>
                </a:solidFill>
                <a:latin typeface="Arial"/>
              </a:defRPr>
            </a:pPr>
            <a:r>
              <a:t>独占所有权（识别器实例）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" y="5724144"/>
            <a:ext cx="1234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B6BA0"/>
                </a:solidFill>
                <a:latin typeface="Consolas"/>
              </a:defRPr>
            </a:pPr>
            <a:r>
              <a:t>std::shared_ptr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783080" y="5724144"/>
            <a:ext cx="1417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A8FA8"/>
                </a:solidFill>
                <a:latin typeface="Arial"/>
              </a:defRPr>
            </a:pPr>
            <a:r>
              <a:t>共享所有权（跨线程对象）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291839" y="4297680"/>
            <a:ext cx="1234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B6BA0"/>
                </a:solidFill>
                <a:latin typeface="Consolas"/>
              </a:defRPr>
            </a:pPr>
            <a:r>
              <a:t>std::function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0" y="4297680"/>
            <a:ext cx="1417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A8FA8"/>
                </a:solidFill>
                <a:latin typeface="Arial"/>
              </a:defRPr>
            </a:pPr>
            <a:r>
              <a:t>std::bind / lambda 回调注册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291839" y="4773168"/>
            <a:ext cx="1234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B6BA0"/>
                </a:solidFill>
                <a:latin typeface="Consolas"/>
              </a:defRPr>
            </a:pPr>
            <a:r>
              <a:t>std::mutex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72000" y="4773168"/>
            <a:ext cx="1417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A8FA8"/>
                </a:solidFill>
                <a:latin typeface="Arial"/>
              </a:defRPr>
            </a:pPr>
            <a:r>
              <a:t>std::lock_guard 自动解锁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291839" y="5248656"/>
            <a:ext cx="1234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B6BA0"/>
                </a:solidFill>
                <a:latin typeface="Consolas"/>
              </a:defRPr>
            </a:pPr>
            <a:r>
              <a:t>std::atomic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72000" y="5248656"/>
            <a:ext cx="1417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A8FA8"/>
                </a:solidFill>
                <a:latin typeface="Arial"/>
              </a:defRPr>
            </a:pPr>
            <a:r>
              <a:t>lock-free 数据共享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291839" y="5724144"/>
            <a:ext cx="1234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B6BA0"/>
                </a:solidFill>
                <a:latin typeface="Consolas"/>
              </a:defRPr>
            </a:pPr>
            <a:r>
              <a:t>std::chrono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72000" y="5724144"/>
            <a:ext cx="1417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A8FA8"/>
                </a:solidFill>
                <a:latin typeface="Arial"/>
              </a:defRPr>
            </a:pPr>
            <a:r>
              <a:t>高精度时间测量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126479" y="3886200"/>
            <a:ext cx="5577840" cy="2423160"/>
          </a:xfrm>
          <a:prstGeom prst="roundRect">
            <a:avLst/>
          </a:prstGeom>
          <a:solidFill>
            <a:srgbClr val="1E2340"/>
          </a:solidFill>
          <a:ln w="12700">
            <a:solidFill>
              <a:srgbClr val="C57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309359" y="3977639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C57B8A"/>
                </a:solidFill>
                <a:latin typeface="Arial"/>
              </a:defRPr>
            </a:pPr>
            <a:r>
              <a:t>工程实践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309359" y="4297680"/>
            <a:ext cx="1234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57B8A"/>
                </a:solidFill>
                <a:latin typeface="Consolas"/>
              </a:defRPr>
            </a:pPr>
            <a:r>
              <a:t>CMake 构建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589519" y="4297680"/>
            <a:ext cx="1417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A8FA8"/>
                </a:solidFill>
                <a:latin typeface="Arial"/>
              </a:defRPr>
            </a:pPr>
            <a:r>
              <a:t>跨平台编译 · 第三方库集成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309359" y="4773168"/>
            <a:ext cx="1234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57B8A"/>
                </a:solidFill>
                <a:latin typeface="Consolas"/>
              </a:defRPr>
            </a:pPr>
            <a:r>
              <a:t>模块化设计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589519" y="4773168"/>
            <a:ext cx="1417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A8FA8"/>
                </a:solidFill>
                <a:latin typeface="Arial"/>
              </a:defRPr>
            </a:pPr>
            <a:r>
              <a:t>Classes/{MainScene,services,Tool,utils}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309359" y="5248656"/>
            <a:ext cx="1234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57B8A"/>
                </a:solidFill>
                <a:latin typeface="Consolas"/>
              </a:defRPr>
            </a:pPr>
            <a:r>
              <a:t>设计模式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589519" y="5248656"/>
            <a:ext cx="1417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A8FA8"/>
                </a:solidFill>
                <a:latin typeface="Arial"/>
              </a:defRPr>
            </a:pPr>
            <a:r>
              <a:t>Strategy · Singleton · Observer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309359" y="5724144"/>
            <a:ext cx="1234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57B8A"/>
                </a:solidFill>
                <a:latin typeface="Consolas"/>
              </a:defRPr>
            </a:pPr>
            <a:r>
              <a:t>#pragma once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589519" y="5724144"/>
            <a:ext cx="1417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A8FA8"/>
                </a:solidFill>
                <a:latin typeface="Arial"/>
              </a:defRPr>
            </a:pPr>
            <a:r>
              <a:t>现代头文件保护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098280" y="4297680"/>
            <a:ext cx="1234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57B8A"/>
                </a:solidFill>
                <a:latin typeface="Consolas"/>
              </a:defRPr>
            </a:pPr>
            <a:r>
              <a:t>多线程架构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378440" y="4297680"/>
            <a:ext cx="1417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A8FA8"/>
                </a:solidFill>
                <a:latin typeface="Arial"/>
              </a:defRPr>
            </a:pPr>
            <a:r>
              <a:t>识别线程 ↔ 游戏主线程解耦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098280" y="4773168"/>
            <a:ext cx="1234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57B8A"/>
                </a:solidFill>
                <a:latin typeface="Consolas"/>
              </a:defRPr>
            </a:pPr>
            <a:r>
              <a:t>异常安全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378440" y="4773168"/>
            <a:ext cx="1417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A8FA8"/>
                </a:solidFill>
                <a:latin typeface="Arial"/>
              </a:defRPr>
            </a:pPr>
            <a:r>
              <a:t>RAII + 智能指针 = 无手动 delete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098280" y="5248656"/>
            <a:ext cx="1234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57B8A"/>
                </a:solidFill>
                <a:latin typeface="Consolas"/>
              </a:defRPr>
            </a:pPr>
            <a:r>
              <a:t>代码规范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378440" y="5248656"/>
            <a:ext cx="1417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A8FA8"/>
                </a:solidFill>
                <a:latin typeface="Arial"/>
              </a:defRPr>
            </a:pPr>
            <a:r>
              <a:t>驼峰命名 · 注释文档 · 职责单一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098280" y="5724144"/>
            <a:ext cx="1234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57B8A"/>
                </a:solidFill>
                <a:latin typeface="Consolas"/>
              </a:defRPr>
            </a:pPr>
            <a:r>
              <a:t>Git 版本管理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378440" y="5724144"/>
            <a:ext cx="1417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A8FA8"/>
                </a:solidFill>
                <a:latin typeface="Arial"/>
              </a:defRPr>
            </a:pPr>
            <a:r>
              <a:t>feature 分支 · 增量提交</a:t>
            </a:r>
          </a:p>
        </p:txBody>
      </p:sp>
      <p:sp>
        <p:nvSpPr>
          <p:cNvPr id="77" name="Rectangle 76"/>
          <p:cNvSpPr/>
          <p:nvPr/>
        </p:nvSpPr>
        <p:spPr>
          <a:xfrm>
            <a:off x="0" y="6656832"/>
            <a:ext cx="12191695" cy="18288"/>
          </a:xfrm>
          <a:prstGeom prst="rect">
            <a:avLst/>
          </a:prstGeom>
          <a:solidFill>
            <a:srgbClr val="7B6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1155680" y="642823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55A70"/>
                </a:solidFill>
                <a:latin typeface="Consolas"/>
              </a:defRPr>
            </a:pPr>
            <a:r>
              <a:t>03/12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8FA8"/>
                </a:solidFill>
                <a:latin typeface="Consolas"/>
              </a:defRPr>
            </a:pPr>
            <a:r>
              <a:t>ARCHITECTURE · MODULES &amp; DATA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A7FB5"/>
                </a:solidFill>
                <a:latin typeface="Arial"/>
              </a:defRPr>
            </a:pPr>
            <a:r>
              <a:t>系统架构：模块划分与连接关系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371600" cy="27432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20040" y="1371600"/>
            <a:ext cx="11430000" cy="1005840"/>
          </a:xfrm>
          <a:prstGeom prst="roundRect">
            <a:avLst/>
          </a:prstGeom>
          <a:solidFill>
            <a:srgbClr val="1E2340"/>
          </a:solidFill>
          <a:ln w="1270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02920" y="1600200"/>
            <a:ext cx="457200" cy="457200"/>
          </a:xfrm>
          <a:prstGeom prst="ellipse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A0E27"/>
                </a:solidFill>
                <a:latin typeface="Consolas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4630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4A843"/>
                </a:solidFill>
                <a:latin typeface="Arial"/>
              </a:defRPr>
            </a:pPr>
            <a:r>
              <a:t>游戏表现层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81051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8FA8"/>
                </a:solidFill>
                <a:latin typeface="Arial"/>
              </a:defRPr>
            </a:pPr>
            <a:r>
              <a:t>消费 GestureCommand · 驱动钩子动画 · 矿物回收 · 商店交易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2057400"/>
            <a:ext cx="1280160" cy="228600"/>
          </a:xfrm>
          <a:prstGeom prst="roundRect">
            <a:avLst/>
          </a:prstGeom>
          <a:solidFill>
            <a:srgbClr val="0A0E27"/>
          </a:solidFill>
          <a:ln w="1270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D4A843"/>
                </a:solidFill>
                <a:latin typeface="Arial"/>
              </a:defRPr>
            </a:pPr>
            <a:r>
              <a:t>Game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17720" y="2057400"/>
            <a:ext cx="1280160" cy="228600"/>
          </a:xfrm>
          <a:prstGeom prst="roundRect">
            <a:avLst/>
          </a:prstGeom>
          <a:solidFill>
            <a:srgbClr val="0A0E27"/>
          </a:solidFill>
          <a:ln w="1270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D4A843"/>
                </a:solidFill>
                <a:latin typeface="Arial"/>
              </a:defRPr>
            </a:pPr>
            <a:r>
              <a:t>Shop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2057400"/>
            <a:ext cx="1280160" cy="228600"/>
          </a:xfrm>
          <a:prstGeom prst="roundRect">
            <a:avLst/>
          </a:prstGeom>
          <a:solidFill>
            <a:srgbClr val="0A0E27"/>
          </a:solidFill>
          <a:ln w="1270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D4A843"/>
                </a:solidFill>
                <a:latin typeface="Arial"/>
              </a:defRPr>
            </a:pPr>
            <a:r>
              <a:t>MainRoot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0" y="2057400"/>
            <a:ext cx="1280160" cy="228600"/>
          </a:xfrm>
          <a:prstGeom prst="roundRect">
            <a:avLst/>
          </a:prstGeom>
          <a:solidFill>
            <a:srgbClr val="0A0E27"/>
          </a:solidFill>
          <a:ln w="1270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D4A843"/>
                </a:solidFill>
                <a:latin typeface="Arial"/>
              </a:defRPr>
            </a:pPr>
            <a:r>
              <a:t>Pause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69680" y="2057400"/>
            <a:ext cx="1280160" cy="228600"/>
          </a:xfrm>
          <a:prstGeom prst="roundRect">
            <a:avLst/>
          </a:prstGeom>
          <a:solidFill>
            <a:srgbClr val="0A0E27"/>
          </a:solidFill>
          <a:ln w="1270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D4A843"/>
                </a:solidFill>
                <a:latin typeface="Arial"/>
              </a:defRPr>
            </a:pPr>
            <a:r>
              <a:t>Mineral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87000" y="2057400"/>
            <a:ext cx="1280160" cy="228600"/>
          </a:xfrm>
          <a:prstGeom prst="roundRect">
            <a:avLst/>
          </a:prstGeom>
          <a:solidFill>
            <a:srgbClr val="0A0E27"/>
          </a:solidFill>
          <a:ln w="1270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D4A843"/>
                </a:solidFill>
                <a:latin typeface="Arial"/>
              </a:defRPr>
            </a:pPr>
            <a:r>
              <a:t>StageTips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2377440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D4A843"/>
                </a:solidFill>
                <a:latin typeface="Consolas"/>
              </a:defRPr>
            </a:pPr>
            <a:r>
              <a:t>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040" y="2578608"/>
            <a:ext cx="11430000" cy="1005840"/>
          </a:xfrm>
          <a:prstGeom prst="roundRect">
            <a:avLst/>
          </a:prstGeom>
          <a:solidFill>
            <a:srgbClr val="1E2340"/>
          </a:solidFill>
          <a:ln w="12700">
            <a:solidFill>
              <a:srgbClr val="6CA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02920" y="2807208"/>
            <a:ext cx="457200" cy="457200"/>
          </a:xfrm>
          <a:prstGeom prst="ellipse">
            <a:avLst/>
          </a:prstGeom>
          <a:solidFill>
            <a:srgbClr val="6CA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A0E27"/>
                </a:solidFill>
                <a:latin typeface="Consolas"/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267004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CA0D8"/>
                </a:solidFill>
                <a:latin typeface="Arial"/>
              </a:defRPr>
            </a:pPr>
            <a:r>
              <a:t>融合决策层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017520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8FA8"/>
                </a:solidFill>
                <a:latin typeface="Arial"/>
              </a:defRPr>
            </a:pPr>
            <a:r>
              <a:t>协调双引擎 · 融合决策 · 输出最终指令 · 时间控制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00400" y="3264408"/>
            <a:ext cx="1280160" cy="228600"/>
          </a:xfrm>
          <a:prstGeom prst="roundRect">
            <a:avLst/>
          </a:prstGeom>
          <a:solidFill>
            <a:srgbClr val="0A0E27"/>
          </a:solidFill>
          <a:ln w="12700">
            <a:solidFill>
              <a:srgbClr val="6CA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6CA0D8"/>
                </a:solidFill>
                <a:latin typeface="Arial"/>
              </a:defRPr>
            </a:pPr>
            <a:r>
              <a:t>GestureFusion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17720" y="3264408"/>
            <a:ext cx="1280160" cy="228600"/>
          </a:xfrm>
          <a:prstGeom prst="roundRect">
            <a:avLst/>
          </a:prstGeom>
          <a:solidFill>
            <a:srgbClr val="0A0E27"/>
          </a:solidFill>
          <a:ln w="12700">
            <a:solidFill>
              <a:srgbClr val="6CA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6CA0D8"/>
                </a:solidFill>
                <a:latin typeface="Arial"/>
              </a:defRPr>
            </a:pPr>
            <a:r>
              <a:t>GestureData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35040" y="3264408"/>
            <a:ext cx="1280160" cy="228600"/>
          </a:xfrm>
          <a:prstGeom prst="roundRect">
            <a:avLst/>
          </a:prstGeom>
          <a:solidFill>
            <a:srgbClr val="0A0E27"/>
          </a:solidFill>
          <a:ln w="12700">
            <a:solidFill>
              <a:srgbClr val="6CA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6CA0D8"/>
                </a:solidFill>
                <a:latin typeface="Arial"/>
              </a:defRPr>
            </a:pPr>
            <a:r>
              <a:t>COOLDOWN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0" y="3584448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D4A843"/>
                </a:solidFill>
                <a:latin typeface="Consolas"/>
              </a:defRPr>
            </a:pPr>
            <a:r>
              <a:t>↓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0040" y="3785616"/>
            <a:ext cx="11430000" cy="1005840"/>
          </a:xfrm>
          <a:prstGeom prst="roundRect">
            <a:avLst/>
          </a:prstGeom>
          <a:solidFill>
            <a:srgbClr val="1E2340"/>
          </a:solidFill>
          <a:ln w="12700">
            <a:solidFill>
              <a:srgbClr val="5BA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02920" y="4014216"/>
            <a:ext cx="457200" cy="457200"/>
          </a:xfrm>
          <a:prstGeom prst="ellipse">
            <a:avLst/>
          </a:prstGeom>
          <a:solidFill>
            <a:srgbClr val="5BA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A0E27"/>
                </a:solidFill>
                <a:latin typeface="Consolas"/>
              </a:defRPr>
            </a:pPr>
            <a: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387705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BAF8A"/>
                </a:solidFill>
                <a:latin typeface="Arial"/>
              </a:defRPr>
            </a:pPr>
            <a:r>
              <a:t>识别引擎层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4224528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8FA8"/>
                </a:solidFill>
                <a:latin typeface="Arial"/>
              </a:defRPr>
            </a:pPr>
            <a:r>
              <a:t>策略接口 · 本地OpenCV · 云端HTTP · AI大模型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00400" y="4471416"/>
            <a:ext cx="1280160" cy="228600"/>
          </a:xfrm>
          <a:prstGeom prst="roundRect">
            <a:avLst/>
          </a:prstGeom>
          <a:solidFill>
            <a:srgbClr val="0A0E27"/>
          </a:solidFill>
          <a:ln w="12700">
            <a:solidFill>
              <a:srgbClr val="5BA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5BAF8A"/>
                </a:solidFill>
                <a:latin typeface="Arial"/>
              </a:defRPr>
            </a:pPr>
            <a:r>
              <a:t>IGestureRecognizer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617720" y="4471416"/>
            <a:ext cx="1280160" cy="228600"/>
          </a:xfrm>
          <a:prstGeom prst="roundRect">
            <a:avLst/>
          </a:prstGeom>
          <a:solidFill>
            <a:srgbClr val="0A0E27"/>
          </a:solidFill>
          <a:ln w="12700">
            <a:solidFill>
              <a:srgbClr val="5BA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5BAF8A"/>
                </a:solidFill>
                <a:latin typeface="Arial"/>
              </a:defRPr>
            </a:pPr>
            <a:r>
              <a:t>LocalRecognizer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035040" y="4471416"/>
            <a:ext cx="1280160" cy="228600"/>
          </a:xfrm>
          <a:prstGeom prst="roundRect">
            <a:avLst/>
          </a:prstGeom>
          <a:solidFill>
            <a:srgbClr val="0A0E27"/>
          </a:solidFill>
          <a:ln w="12700">
            <a:solidFill>
              <a:srgbClr val="5BA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5BAF8A"/>
                </a:solidFill>
                <a:latin typeface="Arial"/>
              </a:defRPr>
            </a:pPr>
            <a:r>
              <a:t>CloudRecognizer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452360" y="4471416"/>
            <a:ext cx="1280160" cy="228600"/>
          </a:xfrm>
          <a:prstGeom prst="roundRect">
            <a:avLst/>
          </a:prstGeom>
          <a:solidFill>
            <a:srgbClr val="0A0E27"/>
          </a:solidFill>
          <a:ln w="12700">
            <a:solidFill>
              <a:srgbClr val="5BA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5BAF8A"/>
                </a:solidFill>
                <a:latin typeface="Arial"/>
              </a:defRPr>
            </a:pPr>
            <a:r>
              <a:t>AIRecognizer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0" y="4791456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D4A843"/>
                </a:solidFill>
                <a:latin typeface="Consolas"/>
              </a:defRPr>
            </a:pPr>
            <a:r>
              <a:t>↓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20040" y="4992624"/>
            <a:ext cx="11430000" cy="1005840"/>
          </a:xfrm>
          <a:prstGeom prst="roundRect">
            <a:avLst/>
          </a:prstGeom>
          <a:solidFill>
            <a:srgbClr val="1E2340"/>
          </a:solidFill>
          <a:ln w="12700">
            <a:solidFill>
              <a:srgbClr val="7B6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02920" y="5221224"/>
            <a:ext cx="457200" cy="457200"/>
          </a:xfrm>
          <a:prstGeom prst="ellipse">
            <a:avLst/>
          </a:prstGeom>
          <a:solidFill>
            <a:srgbClr val="7B6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A0E27"/>
                </a:solidFill>
                <a:latin typeface="Consolas"/>
              </a:defRPr>
            </a:pPr>
            <a: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" y="508406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B6BA0"/>
                </a:solidFill>
                <a:latin typeface="Arial"/>
              </a:defRPr>
            </a:pPr>
            <a:r>
              <a:t>工具与服务层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" y="5431536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8FA8"/>
                </a:solidFill>
                <a:latin typeface="Arial"/>
              </a:defRPr>
            </a:pPr>
            <a:r>
              <a:t>玩家管理 · 关卡JSON · 音乐音效 · 图像转换 · GestureServer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200400" y="5678424"/>
            <a:ext cx="1280160" cy="228600"/>
          </a:xfrm>
          <a:prstGeom prst="roundRect">
            <a:avLst/>
          </a:prstGeom>
          <a:solidFill>
            <a:srgbClr val="0A0E27"/>
          </a:solidFill>
          <a:ln w="12700">
            <a:solidFill>
              <a:srgbClr val="7B6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7B6BA0"/>
                </a:solidFill>
                <a:latin typeface="Arial"/>
              </a:defRPr>
            </a:pPr>
            <a:r>
              <a:t>PlayerManager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617720" y="5678424"/>
            <a:ext cx="1280160" cy="228600"/>
          </a:xfrm>
          <a:prstGeom prst="roundRect">
            <a:avLst/>
          </a:prstGeom>
          <a:solidFill>
            <a:srgbClr val="0A0E27"/>
          </a:solidFill>
          <a:ln w="12700">
            <a:solidFill>
              <a:srgbClr val="7B6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7B6BA0"/>
                </a:solidFill>
                <a:latin typeface="Arial"/>
              </a:defRPr>
            </a:pPr>
            <a:r>
              <a:t>LevelLoader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035040" y="5678424"/>
            <a:ext cx="1280160" cy="228600"/>
          </a:xfrm>
          <a:prstGeom prst="roundRect">
            <a:avLst/>
          </a:prstGeom>
          <a:solidFill>
            <a:srgbClr val="0A0E27"/>
          </a:solidFill>
          <a:ln w="12700">
            <a:solidFill>
              <a:srgbClr val="7B6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7B6BA0"/>
                </a:solidFill>
                <a:latin typeface="Arial"/>
              </a:defRPr>
            </a:pPr>
            <a:r>
              <a:t>MusicPlayer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452360" y="5678424"/>
            <a:ext cx="1280160" cy="228600"/>
          </a:xfrm>
          <a:prstGeom prst="roundRect">
            <a:avLst/>
          </a:prstGeom>
          <a:solidFill>
            <a:srgbClr val="0A0E27"/>
          </a:solidFill>
          <a:ln w="12700">
            <a:solidFill>
              <a:srgbClr val="7B6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7B6BA0"/>
                </a:solidFill>
                <a:latin typeface="Arial"/>
              </a:defRPr>
            </a:pPr>
            <a:r>
              <a:t>SoundTool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869680" y="5678424"/>
            <a:ext cx="1280160" cy="228600"/>
          </a:xfrm>
          <a:prstGeom prst="roundRect">
            <a:avLst/>
          </a:prstGeom>
          <a:solidFill>
            <a:srgbClr val="0A0E27"/>
          </a:solidFill>
          <a:ln w="12700">
            <a:solidFill>
              <a:srgbClr val="7B6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7B6BA0"/>
                </a:solidFill>
                <a:latin typeface="Arial"/>
              </a:defRPr>
            </a:pPr>
            <a:r>
              <a:t>MatToTexture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35040" y="2560320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A8FA8"/>
                </a:solidFill>
                <a:latin typeface="Arial"/>
              </a:defRPr>
            </a:pPr>
            <a:r>
              <a:t>GestureCommand →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35040" y="3767328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A8FA8"/>
                </a:solidFill>
                <a:latin typeface="Arial"/>
              </a:defRPr>
            </a:pPr>
            <a:r>
              <a:t>ResultCallback / pushFrame →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35040" y="4974336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A8FA8"/>
                </a:solidFill>
                <a:latin typeface="Arial"/>
              </a:defRPr>
            </a:pPr>
            <a:r>
              <a:t>HTTP POST · Base64 JPEG →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656832"/>
            <a:ext cx="12191695" cy="18288"/>
          </a:xfrm>
          <a:prstGeom prst="rect">
            <a:avLst/>
          </a:prstGeom>
          <a:solidFill>
            <a:srgbClr val="7B6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155680" y="642823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55A70"/>
                </a:solidFill>
                <a:latin typeface="Consolas"/>
              </a:defRPr>
            </a:pPr>
            <a:r>
              <a:t>04/12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8FA8"/>
                </a:solidFill>
                <a:latin typeface="Consolas"/>
              </a:defRPr>
            </a:pPr>
            <a:r>
              <a:t>DATA STRUCTURES · TYPE-SAFE ENUM → STRUCT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D4A843"/>
                </a:solidFill>
                <a:latin typeface="Arial"/>
              </a:defRPr>
            </a:pPr>
            <a:r>
              <a:t>核心数据结构与类型安全设计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371600" cy="27432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371600"/>
            <a:ext cx="3566160" cy="3840480"/>
          </a:xfrm>
          <a:prstGeom prst="roundRect">
            <a:avLst/>
          </a:prstGeom>
          <a:solidFill>
            <a:srgbClr val="1E2340"/>
          </a:solidFill>
          <a:ln w="1270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3200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A8FA8"/>
                </a:solidFill>
                <a:latin typeface="Consolas"/>
              </a:defRPr>
            </a:pPr>
            <a:r>
              <a:t>enum class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4A843"/>
                </a:solidFill>
                <a:latin typeface="Consolas"/>
              </a:defRPr>
            </a:pPr>
            <a:r>
              <a:t>GestureType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48840"/>
            <a:ext cx="1371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E8EC"/>
                </a:solidFill>
                <a:latin typeface="Consolas"/>
              </a:defRPr>
            </a:pPr>
            <a:r>
              <a:t>OPEN_PALM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2148840"/>
            <a:ext cx="1737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8FA8"/>
                </a:solidFill>
                <a:latin typeface="Consolas"/>
              </a:defRPr>
            </a:pPr>
            <a:r>
              <a:t>张开手掌·瞄准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514600"/>
            <a:ext cx="1371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E8EC"/>
                </a:solidFill>
                <a:latin typeface="Consolas"/>
              </a:defRPr>
            </a:pPr>
            <a:r>
              <a:t>FIST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2514600"/>
            <a:ext cx="1737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8FA8"/>
                </a:solidFill>
                <a:latin typeface="Consolas"/>
              </a:defRPr>
            </a:pPr>
            <a:r>
              <a:t>握拳·释放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880360"/>
            <a:ext cx="1371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E8EC"/>
                </a:solidFill>
                <a:latin typeface="Consolas"/>
              </a:defRPr>
            </a:pPr>
            <a:r>
              <a:t>UNKNOWN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2880360"/>
            <a:ext cx="1737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8FA8"/>
                </a:solidFill>
                <a:latin typeface="Consolas"/>
              </a:defRPr>
            </a:pPr>
            <a:r>
              <a:t>无手势·保持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0292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4A843"/>
                </a:solidFill>
                <a:latin typeface="Arial"/>
              </a:defRPr>
            </a:pPr>
            <a:r>
              <a:t>强类型枚举 → 编译期防隐式转换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1371600"/>
            <a:ext cx="3566160" cy="3840480"/>
          </a:xfrm>
          <a:prstGeom prst="roundRect">
            <a:avLst/>
          </a:prstGeom>
          <a:solidFill>
            <a:srgbClr val="1E2340"/>
          </a:solidFill>
          <a:ln w="12700">
            <a:solidFill>
              <a:srgbClr val="5BA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60" y="1463040"/>
            <a:ext cx="3200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A8FA8"/>
                </a:solidFill>
                <a:latin typeface="Consolas"/>
              </a:defRPr>
            </a:pPr>
            <a:r>
              <a:t>struct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16459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BAF8A"/>
                </a:solidFill>
                <a:latin typeface="Consolas"/>
              </a:defRPr>
            </a:pPr>
            <a:r>
              <a:t>GestureResult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148840"/>
            <a:ext cx="1371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E8EC"/>
                </a:solidFill>
                <a:latin typeface="Consolas"/>
              </a:defRPr>
            </a:pPr>
            <a:r>
              <a:t>gesture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2148840"/>
            <a:ext cx="1737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8FA8"/>
                </a:solidFill>
                <a:latin typeface="Consolas"/>
              </a:defRPr>
            </a:pPr>
            <a:r>
              <a:t>GestureType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2514600"/>
            <a:ext cx="1371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E8EC"/>
                </a:solidFill>
                <a:latin typeface="Consolas"/>
              </a:defRPr>
            </a:pPr>
            <a:r>
              <a:t>angle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2514600"/>
            <a:ext cx="1737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8FA8"/>
                </a:solidFill>
                <a:latin typeface="Consolas"/>
              </a:defRPr>
            </a:pPr>
            <a:r>
              <a:t>float [-65,+65]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2880360"/>
            <a:ext cx="1371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E8EC"/>
                </a:solidFill>
                <a:latin typeface="Consolas"/>
              </a:defRPr>
            </a:pPr>
            <a:r>
              <a:t>confidence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2880360"/>
            <a:ext cx="1737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8FA8"/>
                </a:solidFill>
                <a:latin typeface="Consolas"/>
              </a:defRPr>
            </a:pPr>
            <a:r>
              <a:t>float [0,1]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3246120"/>
            <a:ext cx="1371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E8EC"/>
                </a:solidFill>
                <a:latin typeface="Consolas"/>
              </a:defRPr>
            </a:pPr>
            <a:r>
              <a:t>isValid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3246120"/>
            <a:ext cx="1737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8FA8"/>
                </a:solidFill>
                <a:latin typeface="Consolas"/>
              </a:defRPr>
            </a:pPr>
            <a:r>
              <a:t>bool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3611880"/>
            <a:ext cx="1371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E8EC"/>
                </a:solidFill>
                <a:latin typeface="Consolas"/>
              </a:defRPr>
            </a:pPr>
            <a:r>
              <a:t>isLocked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0" y="3611880"/>
            <a:ext cx="1737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8FA8"/>
                </a:solidFill>
                <a:latin typeface="Consolas"/>
              </a:defRPr>
            </a:pPr>
            <a:r>
              <a:t>bool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3977639"/>
            <a:ext cx="1371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E8EC"/>
                </a:solidFill>
                <a:latin typeface="Consolas"/>
              </a:defRPr>
            </a:pPr>
            <a:r>
              <a:t>source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0" y="3977639"/>
            <a:ext cx="1737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8FA8"/>
                </a:solidFill>
                <a:latin typeface="Consolas"/>
              </a:defRPr>
            </a:pPr>
            <a:r>
              <a:t>std::string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0560" y="50292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BAF8A"/>
                </a:solidFill>
                <a:latin typeface="Arial"/>
              </a:defRPr>
            </a:pPr>
            <a:r>
              <a:t>识别引擎统一输出 → 跨线程共享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0" y="1371600"/>
            <a:ext cx="3566160" cy="3840480"/>
          </a:xfrm>
          <a:prstGeom prst="roundRect">
            <a:avLst/>
          </a:prstGeom>
          <a:solidFill>
            <a:srgbClr val="1E2340"/>
          </a:solidFill>
          <a:ln w="12700">
            <a:solidFill>
              <a:srgbClr val="7B6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80" y="1463040"/>
            <a:ext cx="3200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A8FA8"/>
                </a:solidFill>
                <a:latin typeface="Consolas"/>
              </a:defRPr>
            </a:pPr>
            <a:r>
              <a:t>struct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16459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B6BA0"/>
                </a:solidFill>
                <a:latin typeface="Consolas"/>
              </a:defRPr>
            </a:pPr>
            <a:r>
              <a:t>GestureCommand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2148840"/>
            <a:ext cx="1371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E8EC"/>
                </a:solidFill>
                <a:latin typeface="Consolas"/>
              </a:defRPr>
            </a:pPr>
            <a:r>
              <a:t>shouldReleaseHook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75520" y="2148840"/>
            <a:ext cx="1737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8FA8"/>
                </a:solidFill>
                <a:latin typeface="Consolas"/>
              </a:defRPr>
            </a:pPr>
            <a:r>
              <a:t>bool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80" y="2514600"/>
            <a:ext cx="1371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E8EC"/>
                </a:solidFill>
                <a:latin typeface="Consolas"/>
              </a:defRPr>
            </a:pPr>
            <a:r>
              <a:t>shouldDetonateBomb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75520" y="2514600"/>
            <a:ext cx="1737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8FA8"/>
                </a:solidFill>
                <a:latin typeface="Consolas"/>
              </a:defRPr>
            </a:pPr>
            <a:r>
              <a:t>bool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12480" y="2880360"/>
            <a:ext cx="1371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E8EC"/>
                </a:solidFill>
                <a:latin typeface="Consolas"/>
              </a:defRPr>
            </a:pPr>
            <a:r>
              <a:t>targetAngle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75520" y="2880360"/>
            <a:ext cx="1737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8FA8"/>
                </a:solidFill>
                <a:latin typeface="Consolas"/>
              </a:defRPr>
            </a:pPr>
            <a:r>
              <a:t>float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80" y="3246120"/>
            <a:ext cx="1371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E8EC"/>
                </a:solidFill>
                <a:latin typeface="Consolas"/>
              </a:defRPr>
            </a:pPr>
            <a:r>
              <a:t>isValid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875520" y="3246120"/>
            <a:ext cx="1737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8FA8"/>
                </a:solidFill>
                <a:latin typeface="Consolas"/>
              </a:defRPr>
            </a:pPr>
            <a:r>
              <a:t>bool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12480" y="50292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B6BA0"/>
                </a:solidFill>
                <a:latin typeface="Arial"/>
              </a:defRPr>
            </a:pPr>
            <a:r>
              <a:t>融合决策 → 游戏消费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840480" y="28346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D4A843"/>
                </a:solidFill>
                <a:latin typeface="Consolas"/>
              </a:defRPr>
            </a:pPr>
            <a:r>
              <a:t>→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0" y="28346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D4A843"/>
                </a:solidFill>
                <a:latin typeface="Consolas"/>
              </a:defRPr>
            </a:pPr>
            <a:r>
              <a:t>→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65760" y="5486400"/>
            <a:ext cx="2103120" cy="1097280"/>
          </a:xfrm>
          <a:prstGeom prst="roundRect">
            <a:avLst/>
          </a:prstGeom>
          <a:solidFill>
            <a:srgbClr val="1E2340"/>
          </a:solidFill>
          <a:ln w="1270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8640" y="5577840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D4A843"/>
                </a:solidFill>
                <a:latin typeface="Consolas"/>
              </a:defRPr>
            </a:pPr>
            <a:r>
              <a:t>类型安全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594360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A8FA8"/>
                </a:solidFill>
                <a:latin typeface="Arial"/>
              </a:defRPr>
            </a:pPr>
            <a:r>
              <a:t>enum class 编译期检查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743200" y="5486400"/>
            <a:ext cx="2103120" cy="1097280"/>
          </a:xfrm>
          <a:prstGeom prst="roundRect">
            <a:avLst/>
          </a:prstGeom>
          <a:solidFill>
            <a:srgbClr val="1E2340"/>
          </a:solidFill>
          <a:ln w="12700">
            <a:solidFill>
              <a:srgbClr val="5BA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926080" y="5577840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5BAF8A"/>
                </a:solidFill>
                <a:latin typeface="Consolas"/>
              </a:defRPr>
            </a:pPr>
            <a:r>
              <a:t>跨线程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926080" y="594360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A8FA8"/>
                </a:solidFill>
                <a:latin typeface="Arial"/>
              </a:defRPr>
            </a:pPr>
            <a:r>
              <a:t>std::atomic 无锁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120640" y="5486400"/>
            <a:ext cx="2103120" cy="1097280"/>
          </a:xfrm>
          <a:prstGeom prst="roundRect">
            <a:avLst/>
          </a:prstGeom>
          <a:solidFill>
            <a:srgbClr val="1E2340"/>
          </a:solidFill>
          <a:ln w="12700">
            <a:solidFill>
              <a:srgbClr val="6CA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303520" y="5577840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6CA0D8"/>
                </a:solidFill>
                <a:latin typeface="Consolas"/>
              </a:defRPr>
            </a:pPr>
            <a:r>
              <a:t>置信度过滤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303520" y="594360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A8FA8"/>
                </a:solidFill>
                <a:latin typeface="Arial"/>
              </a:defRPr>
            </a:pPr>
            <a:r>
              <a:t>&lt;0.6 直接丢弃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498080" y="5486400"/>
            <a:ext cx="2103120" cy="1097280"/>
          </a:xfrm>
          <a:prstGeom prst="roundRect">
            <a:avLst/>
          </a:prstGeom>
          <a:solidFill>
            <a:srgbClr val="1E2340"/>
          </a:solidFill>
          <a:ln w="12700">
            <a:solidFill>
              <a:srgbClr val="7B6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680960" y="5577840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7B6BA0"/>
                </a:solidFill>
                <a:latin typeface="Consolas"/>
              </a:defRPr>
            </a:pPr>
            <a:r>
              <a:t>来源追溯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680960" y="594360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A8FA8"/>
                </a:solidFill>
                <a:latin typeface="Arial"/>
              </a:defRPr>
            </a:pPr>
            <a:r>
              <a:t>source 字段可调试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875520" y="5486400"/>
            <a:ext cx="2103120" cy="1097280"/>
          </a:xfrm>
          <a:prstGeom prst="roundRect">
            <a:avLst/>
          </a:prstGeom>
          <a:solidFill>
            <a:srgbClr val="1E2340"/>
          </a:solidFill>
          <a:ln w="12700">
            <a:solidFill>
              <a:srgbClr val="C57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058400" y="5577840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C57B8A"/>
                </a:solidFill>
                <a:latin typeface="Consolas"/>
              </a:defRPr>
            </a:pPr>
            <a:r>
              <a:t>状态锁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058400" y="594360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A8FA8"/>
                </a:solidFill>
                <a:latin typeface="Arial"/>
              </a:defRPr>
            </a:pPr>
            <a:r>
              <a:t>isLocked 防重入</a:t>
            </a:r>
          </a:p>
        </p:txBody>
      </p:sp>
      <p:sp>
        <p:nvSpPr>
          <p:cNvPr id="60" name="Rectangle 59"/>
          <p:cNvSpPr/>
          <p:nvPr/>
        </p:nvSpPr>
        <p:spPr>
          <a:xfrm>
            <a:off x="0" y="6656832"/>
            <a:ext cx="12191695" cy="18288"/>
          </a:xfrm>
          <a:prstGeom prst="rect">
            <a:avLst/>
          </a:prstGeom>
          <a:solidFill>
            <a:srgbClr val="7B6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1155680" y="642823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55A70"/>
                </a:solidFill>
                <a:latin typeface="Consolas"/>
              </a:defRPr>
            </a:pPr>
            <a:r>
              <a:t>05/12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8FA8"/>
                </a:solidFill>
                <a:latin typeface="Consolas"/>
              </a:defRPr>
            </a:pPr>
            <a:r>
              <a:t>ALGORITHM · 5-STEP CV PIPELINE · ~30MS/FRAME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5BAF8A"/>
                </a:solidFill>
                <a:latin typeface="Arial"/>
              </a:defRPr>
            </a:pPr>
            <a:r>
              <a:t>手势识别算法核心流程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371600" cy="27432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28600" y="1325880"/>
            <a:ext cx="2103120" cy="3291840"/>
          </a:xfrm>
          <a:prstGeom prst="roundRect">
            <a:avLst/>
          </a:prstGeom>
          <a:solidFill>
            <a:srgbClr val="1E2340"/>
          </a:solidFill>
          <a:ln w="1270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" y="1188720"/>
            <a:ext cx="457200" cy="457200"/>
          </a:xfrm>
          <a:prstGeom prst="ellipse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A0E27"/>
                </a:solidFill>
                <a:latin typeface="Consolas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828800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8E8EC"/>
                </a:solidFill>
                <a:latin typeface="Arial"/>
              </a:defRPr>
            </a:pPr>
            <a:r>
              <a:t>HSV分割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214884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D4A843"/>
                </a:solidFill>
                <a:latin typeface="Consolas"/>
              </a:defRPr>
            </a:pPr>
            <a:r>
              <a:t>cv::cvtColor</a:t>
            </a:r>
            <a:br/>
            <a:r>
              <a:t>cv::inRange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2743200"/>
            <a:ext cx="1920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A8FA8"/>
                </a:solidFill>
                <a:latin typeface="Arial"/>
              </a:defRPr>
            </a:pPr>
            <a:r>
              <a:t>BGR→HSV</a:t>
            </a:r>
            <a:br/>
            <a:r>
              <a:t>肤色阈值过滤</a:t>
            </a:r>
            <a:br/>
            <a:r>
              <a:t>高斯降噪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4251960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D4A843"/>
                </a:solidFill>
                <a:latin typeface="Consolas"/>
              </a:defRPr>
            </a:pPr>
            <a:r>
              <a:t>~5ms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13432" y="2743200"/>
            <a:ext cx="320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D4A843"/>
                </a:solidFill>
                <a:latin typeface="Consolas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87752" y="1325880"/>
            <a:ext cx="2103120" cy="3291840"/>
          </a:xfrm>
          <a:prstGeom prst="roundRect">
            <a:avLst/>
          </a:prstGeom>
          <a:solidFill>
            <a:srgbClr val="1E2340"/>
          </a:solidFill>
          <a:ln w="12700">
            <a:solidFill>
              <a:srgbClr val="4A7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364992" y="1188720"/>
            <a:ext cx="457200" cy="457200"/>
          </a:xfrm>
          <a:prstGeom prst="ellipse">
            <a:avLst/>
          </a:prstGeom>
          <a:solidFill>
            <a:srgbClr val="4A7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A0E27"/>
                </a:solidFill>
                <a:latin typeface="Consola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79192" y="1828800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8E8EC"/>
                </a:solidFill>
                <a:latin typeface="Arial"/>
              </a:defRPr>
            </a:pPr>
            <a:r>
              <a:t>轮廓检测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79192" y="214884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A7FB5"/>
                </a:solidFill>
                <a:latin typeface="Consolas"/>
              </a:defRPr>
            </a:pPr>
            <a:r>
              <a:t>cv::findContours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79192" y="2743200"/>
            <a:ext cx="1920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A8FA8"/>
                </a:solidFill>
                <a:latin typeface="Arial"/>
              </a:defRPr>
            </a:pPr>
            <a:r>
              <a:t>RETR_EXTERNAL</a:t>
            </a:r>
            <a:br/>
            <a:r>
              <a:t>取最大轮廓</a:t>
            </a:r>
            <a:br/>
            <a:r>
              <a:t>面积过滤噪点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79192" y="4251960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4A7FB5"/>
                </a:solidFill>
                <a:latin typeface="Consolas"/>
              </a:defRPr>
            </a:pPr>
            <a:r>
              <a:t>~8ms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72583" y="2743200"/>
            <a:ext cx="320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D4A843"/>
                </a:solidFill>
                <a:latin typeface="Consolas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946904" y="1325880"/>
            <a:ext cx="2103120" cy="3291840"/>
          </a:xfrm>
          <a:prstGeom prst="roundRect">
            <a:avLst/>
          </a:prstGeom>
          <a:solidFill>
            <a:srgbClr val="1E2340"/>
          </a:solidFill>
          <a:ln w="12700">
            <a:solidFill>
              <a:srgbClr val="5BA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24144" y="1188720"/>
            <a:ext cx="457200" cy="457200"/>
          </a:xfrm>
          <a:prstGeom prst="ellipse">
            <a:avLst/>
          </a:prstGeom>
          <a:solidFill>
            <a:srgbClr val="5BA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A0E27"/>
                </a:solidFill>
                <a:latin typeface="Consolas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38344" y="1828800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8E8EC"/>
                </a:solidFill>
                <a:latin typeface="Arial"/>
              </a:defRPr>
            </a:pPr>
            <a:r>
              <a:t>凸包分析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38344" y="214884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BAF8A"/>
                </a:solidFill>
                <a:latin typeface="Consolas"/>
              </a:defRPr>
            </a:pPr>
            <a:r>
              <a:t>cv::convexHull</a:t>
            </a:r>
            <a:br/>
            <a:r>
              <a:t>+defects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38344" y="2743200"/>
            <a:ext cx="1920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A8FA8"/>
                </a:solidFill>
                <a:latin typeface="Arial"/>
              </a:defRPr>
            </a:pPr>
            <a:r>
              <a:t>计算手部凸包</a:t>
            </a:r>
            <a:br/>
            <a:r>
              <a:t>提取凸缺陷</a:t>
            </a:r>
            <a:br/>
            <a:r>
              <a:t>筛选指尖候选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38344" y="4251960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5BAF8A"/>
                </a:solidFill>
                <a:latin typeface="Consolas"/>
              </a:defRPr>
            </a:pPr>
            <a:r>
              <a:t>~6ms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31736" y="2743200"/>
            <a:ext cx="320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D4A843"/>
                </a:solidFill>
                <a:latin typeface="Consolas"/>
              </a:defRPr>
            </a:pPr>
            <a: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06056" y="1325880"/>
            <a:ext cx="2103120" cy="3291840"/>
          </a:xfrm>
          <a:prstGeom prst="roundRect">
            <a:avLst/>
          </a:prstGeom>
          <a:solidFill>
            <a:srgbClr val="1E2340"/>
          </a:solidFill>
          <a:ln w="12700">
            <a:solidFill>
              <a:srgbClr val="C57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083296" y="1188720"/>
            <a:ext cx="457200" cy="457200"/>
          </a:xfrm>
          <a:prstGeom prst="ellipse">
            <a:avLst/>
          </a:prstGeom>
          <a:solidFill>
            <a:srgbClr val="C57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A0E27"/>
                </a:solidFill>
                <a:latin typeface="Consolas"/>
              </a:defRPr>
            </a:pPr>
            <a: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97496" y="1828800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8E8EC"/>
                </a:solidFill>
                <a:latin typeface="Arial"/>
              </a:defRPr>
            </a:pPr>
            <a:r>
              <a:t>指尖识别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97496" y="214884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57B8A"/>
                </a:solidFill>
                <a:latin typeface="Consolas"/>
              </a:defRPr>
            </a:pPr>
            <a:r>
              <a:t>几何特征</a:t>
            </a:r>
            <a:br/>
            <a:r>
              <a:t>角度过滤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97496" y="2743200"/>
            <a:ext cx="1920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A8FA8"/>
                </a:solidFill>
                <a:latin typeface="Arial"/>
              </a:defRPr>
            </a:pPr>
            <a:r>
              <a:t>缺陷深度阈值</a:t>
            </a:r>
            <a:br/>
            <a:r>
              <a:t>指尖距离约束</a:t>
            </a:r>
            <a:br/>
            <a:r>
              <a:t>手掌张开度计算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97496" y="4251960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C57B8A"/>
                </a:solidFill>
                <a:latin typeface="Consolas"/>
              </a:defRPr>
            </a:pPr>
            <a:r>
              <a:t>~5ms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90888" y="2743200"/>
            <a:ext cx="320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D4A843"/>
                </a:solidFill>
                <a:latin typeface="Consolas"/>
              </a:defRPr>
            </a:pPr>
            <a: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665208" y="1325880"/>
            <a:ext cx="2103120" cy="3291840"/>
          </a:xfrm>
          <a:prstGeom prst="roundRect">
            <a:avLst/>
          </a:prstGeom>
          <a:solidFill>
            <a:srgbClr val="1E2340"/>
          </a:solidFill>
          <a:ln w="12700">
            <a:solidFill>
              <a:srgbClr val="7B6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442448" y="1188720"/>
            <a:ext cx="457200" cy="457200"/>
          </a:xfrm>
          <a:prstGeom prst="ellipse">
            <a:avLst/>
          </a:prstGeom>
          <a:solidFill>
            <a:srgbClr val="7B6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A0E27"/>
                </a:solidFill>
                <a:latin typeface="Consolas"/>
              </a:defRPr>
            </a:pPr>
            <a: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56648" y="1828800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8E8EC"/>
                </a:solidFill>
                <a:latin typeface="Arial"/>
              </a:defRPr>
            </a:pPr>
            <a:r>
              <a:t>角度计算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56648" y="214884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B6BA0"/>
                </a:solidFill>
                <a:latin typeface="Consolas"/>
              </a:defRPr>
            </a:pPr>
            <a:r>
              <a:t>重心偏移</a:t>
            </a:r>
            <a:br/>
            <a:r>
              <a:t>→角度映射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56648" y="2743200"/>
            <a:ext cx="1920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A8FA8"/>
                </a:solidFill>
                <a:latin typeface="Arial"/>
              </a:defRPr>
            </a:pPr>
            <a:r>
              <a:t>重心相对ROI中心</a:t>
            </a:r>
            <a:br/>
            <a:r>
              <a:t>线性映射[-65,+65]</a:t>
            </a:r>
            <a:br/>
            <a:r>
              <a:t>EMA平滑 α=0.7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56648" y="4251960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7B6BA0"/>
                </a:solidFill>
                <a:latin typeface="Consolas"/>
              </a:defRPr>
            </a:pPr>
            <a:r>
              <a:t>~3ms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20040" y="4846320"/>
            <a:ext cx="4389120" cy="1828800"/>
          </a:xfrm>
          <a:prstGeom prst="roundRect">
            <a:avLst/>
          </a:prstGeom>
          <a:solidFill>
            <a:srgbClr val="1E2340"/>
          </a:solidFill>
          <a:ln w="1270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2920" y="4937760"/>
            <a:ext cx="4023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843"/>
                </a:solidFill>
                <a:latin typeface="Arial"/>
              </a:defRPr>
            </a:pPr>
            <a:r>
              <a:t>检测参数配置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5257800"/>
            <a:ext cx="1005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8FA8"/>
                </a:solidFill>
                <a:latin typeface="Arial"/>
              </a:defRPr>
            </a:pPr>
            <a:r>
              <a:t>输入分辨率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63040" y="5257800"/>
            <a:ext cx="1371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8EC"/>
                </a:solidFill>
                <a:latin typeface="Consolas"/>
              </a:defRPr>
            </a:pPr>
            <a:r>
              <a:t>640 × 480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5586984"/>
            <a:ext cx="1005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8FA8"/>
                </a:solidFill>
                <a:latin typeface="Arial"/>
              </a:defRPr>
            </a:pPr>
            <a:r>
              <a:t>帧格式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63040" y="5586984"/>
            <a:ext cx="1371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8EC"/>
                </a:solidFill>
                <a:latin typeface="Consolas"/>
              </a:defRPr>
            </a:pPr>
            <a:r>
              <a:t>JPEG (q=85)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" y="5916168"/>
            <a:ext cx="1005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8FA8"/>
                </a:solidFill>
                <a:latin typeface="Arial"/>
              </a:defRPr>
            </a:pPr>
            <a:r>
              <a:t>HSV Lower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463040" y="5916168"/>
            <a:ext cx="1371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8EC"/>
                </a:solidFill>
                <a:latin typeface="Consolas"/>
              </a:defRPr>
            </a:pPr>
            <a:r>
              <a:t>[0, 20, 70]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2920" y="6245352"/>
            <a:ext cx="1005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8FA8"/>
                </a:solidFill>
                <a:latin typeface="Arial"/>
              </a:defRPr>
            </a:pPr>
            <a:r>
              <a:t>HSV Upper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63040" y="6245352"/>
            <a:ext cx="1371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8EC"/>
                </a:solidFill>
                <a:latin typeface="Consolas"/>
              </a:defRPr>
            </a:pPr>
            <a:r>
              <a:t>[20, 255, 255]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697480" y="5257800"/>
            <a:ext cx="1005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8FA8"/>
                </a:solidFill>
                <a:latin typeface="Arial"/>
              </a:defRPr>
            </a:pPr>
            <a:r>
              <a:t>高斯核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57600" y="5257800"/>
            <a:ext cx="1371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8EC"/>
                </a:solidFill>
                <a:latin typeface="Consolas"/>
              </a:defRPr>
            </a:pPr>
            <a:r>
              <a:t>5×5, σ=0.8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697480" y="5586984"/>
            <a:ext cx="1005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8FA8"/>
                </a:solidFill>
                <a:latin typeface="Arial"/>
              </a:defRPr>
            </a:pPr>
            <a:r>
              <a:t>EMA 系数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657600" y="5586984"/>
            <a:ext cx="1371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8EC"/>
                </a:solidFill>
                <a:latin typeface="Consolas"/>
              </a:defRPr>
            </a:pPr>
            <a:r>
              <a:t>α = 0.7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697480" y="5916168"/>
            <a:ext cx="1005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8FA8"/>
                </a:solidFill>
                <a:latin typeface="Arial"/>
              </a:defRPr>
            </a:pPr>
            <a:r>
              <a:t>去抖帧数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57600" y="5916168"/>
            <a:ext cx="1371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8EC"/>
                </a:solidFill>
                <a:latin typeface="Consolas"/>
              </a:defRPr>
            </a:pPr>
            <a:r>
              <a:t>≥ 3 帧一致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697480" y="6245352"/>
            <a:ext cx="1005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8FA8"/>
                </a:solidFill>
                <a:latin typeface="Arial"/>
              </a:defRPr>
            </a:pPr>
            <a:r>
              <a:t>置信度阈值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657600" y="6245352"/>
            <a:ext cx="1371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8EC"/>
                </a:solidFill>
                <a:latin typeface="Consolas"/>
              </a:defRPr>
            </a:pPr>
            <a:r>
              <a:t>≥ 0.60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892040" y="4846320"/>
            <a:ext cx="7040880" cy="1828800"/>
          </a:xfrm>
          <a:prstGeom prst="roundRect">
            <a:avLst/>
          </a:prstGeom>
          <a:solidFill>
            <a:srgbClr val="1E2340"/>
          </a:solidFill>
          <a:ln w="12700">
            <a:solidFill>
              <a:srgbClr val="6CA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074920" y="4937760"/>
            <a:ext cx="6583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CA0D8"/>
                </a:solidFill>
                <a:latin typeface="Arial"/>
              </a:defRPr>
            </a:pPr>
            <a:r>
              <a:t>GestureFusion::tick() 核心伪代码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074920" y="5230368"/>
            <a:ext cx="65836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A8FA8"/>
                </a:solidFill>
                <a:latin typeface="Consolas"/>
              </a:defRPr>
            </a:pPr>
            <a:r>
              <a:t>  result = getLatestLocal()              // 获取本地最新识别结果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074920" y="5358383"/>
            <a:ext cx="65836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E8E8EC"/>
                </a:solidFill>
                <a:latin typeface="Consolas"/>
              </a:defRPr>
            </a:pPr>
            <a:r>
              <a:t>  if result.gesture == OPEN_PALM: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074920" y="5486400"/>
            <a:ext cx="65836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A8FA8"/>
                </a:solidFill>
                <a:latin typeface="Consolas"/>
              </a:defRPr>
            </a:pPr>
            <a:r>
              <a:t>      cmd.targetAngle = result.angle      // 直接输出角度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074920" y="5614416"/>
            <a:ext cx="65836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E8E8EC"/>
                </a:solidFill>
                <a:latin typeface="Consolas"/>
              </a:defRPr>
            </a:pPr>
            <a:r>
              <a:t>      cmd.isValid = true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074920" y="5742431"/>
            <a:ext cx="65836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A8FA8"/>
                </a:solidFill>
                <a:latin typeface="Consolas"/>
              </a:defRPr>
            </a:pPr>
            <a:r>
              <a:t>  elif result.gesture == FIST: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074920" y="5870448"/>
            <a:ext cx="65836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E8E8EC"/>
                </a:solidFill>
                <a:latin typeface="Consolas"/>
              </a:defRPr>
            </a:pPr>
            <a:r>
              <a:t>      if !cloudConfirmed:                 // 未确认 → 发起云端请求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074920" y="5998464"/>
            <a:ext cx="65836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A8FA8"/>
                </a:solidFill>
                <a:latin typeface="Consolas"/>
              </a:defRPr>
            </a:pPr>
            <a:r>
              <a:t>          cloudRequest(result)             // 异步 HTTP POST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074920" y="6126480"/>
            <a:ext cx="65836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E8E8EC"/>
                </a:solidFill>
                <a:latin typeface="Consolas"/>
              </a:defRPr>
            </a:pPr>
            <a:r>
              <a:t>      else:                                // 已确认 → 执行释放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074920" y="6254496"/>
            <a:ext cx="65836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A8FA8"/>
                </a:solidFill>
                <a:latin typeface="Consolas"/>
              </a:defRPr>
            </a:pPr>
            <a:r>
              <a:t>          cmd.shouldReleaseHook = true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074920" y="6382512"/>
            <a:ext cx="65836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E8E8EC"/>
                </a:solidFill>
                <a:latin typeface="Consolas"/>
              </a:defRPr>
            </a:pPr>
            <a:r>
              <a:t>          cooldown = 0.8s                  // 进入冷却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074920" y="6510528"/>
            <a:ext cx="65836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A8FA8"/>
                </a:solidFill>
                <a:latin typeface="Consolas"/>
              </a:defRPr>
            </a:pPr>
            <a:r>
              <a:t>      if fistHoldTime &gt; 1.5s:             // 长握引爆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074920" y="6638544"/>
            <a:ext cx="65836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E8E8EC"/>
                </a:solidFill>
                <a:latin typeface="Consolas"/>
              </a:defRPr>
            </a:pPr>
            <a:r>
              <a:t>          cmd.shouldDetonateBomb = true</a:t>
            </a:r>
          </a:p>
        </p:txBody>
      </p:sp>
      <p:sp>
        <p:nvSpPr>
          <p:cNvPr id="71" name="Rectangle 70"/>
          <p:cNvSpPr/>
          <p:nvPr/>
        </p:nvSpPr>
        <p:spPr>
          <a:xfrm>
            <a:off x="0" y="6656832"/>
            <a:ext cx="12191695" cy="18288"/>
          </a:xfrm>
          <a:prstGeom prst="rect">
            <a:avLst/>
          </a:prstGeom>
          <a:solidFill>
            <a:srgbClr val="7B6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1155680" y="642823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55A70"/>
                </a:solidFill>
                <a:latin typeface="Consolas"/>
              </a:defRPr>
            </a:pPr>
            <a:r>
              <a:t>06/12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8FA8"/>
                </a:solidFill>
                <a:latin typeface="Consolas"/>
              </a:defRPr>
            </a:pPr>
            <a:r>
              <a:t>FUSION · LOCAL (30MS) + CLOUD (ON-DEMAND) COLLABORATIVE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D4A843"/>
                </a:solidFill>
                <a:latin typeface="Arial"/>
              </a:defRPr>
            </a:pPr>
            <a:r>
              <a:t>双引擎融合策略：本地快 × 云端准 · 安全优先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371600" cy="27432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20040" y="1234440"/>
            <a:ext cx="5577840" cy="2194560"/>
          </a:xfrm>
          <a:prstGeom prst="roundRect">
            <a:avLst/>
          </a:prstGeom>
          <a:solidFill>
            <a:srgbClr val="1E2340"/>
          </a:solidFill>
          <a:ln w="12700">
            <a:solidFill>
              <a:srgbClr val="4A7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A7FB5"/>
                </a:solidFill>
                <a:latin typeface="Arial"/>
              </a:defRPr>
            </a:pPr>
            <a:r>
              <a:t>本地 CV 引擎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5029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7FB5"/>
                </a:solidFill>
                <a:latin typeface="Consolas"/>
              </a:defRPr>
            </a:pPr>
            <a:r>
              <a:t>LocalGestureRecognizer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103120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8FA8"/>
                </a:solidFill>
                <a:latin typeface="Arial"/>
              </a:defRPr>
            </a:pPr>
            <a:r>
              <a:t>频率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2103120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8EC"/>
                </a:solidFill>
                <a:latin typeface="Consolas"/>
              </a:defRPr>
            </a:pPr>
            <a:r>
              <a:t>~30ms / 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395727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8FA8"/>
                </a:solidFill>
                <a:latin typeface="Arial"/>
              </a:defRPr>
            </a:pPr>
            <a:r>
              <a:t>线程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2395727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8EC"/>
                </a:solidFill>
                <a:latin typeface="Consolas"/>
              </a:defRPr>
            </a:pPr>
            <a:r>
              <a:t>独立识别线程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688336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8FA8"/>
                </a:solidFill>
                <a:latin typeface="Arial"/>
              </a:defRPr>
            </a:pPr>
            <a:r>
              <a:t>OPEN_PALM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2688336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8EC"/>
                </a:solidFill>
                <a:latin typeface="Consolas"/>
              </a:defRPr>
            </a:pPr>
            <a:r>
              <a:t>直接输出角度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980944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8FA8"/>
                </a:solidFill>
                <a:latin typeface="Arial"/>
              </a:defRPr>
            </a:pPr>
            <a:r>
              <a:t>FIST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3080" y="2980944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8EC"/>
                </a:solidFill>
                <a:latin typeface="Consolas"/>
              </a:defRPr>
            </a:pPr>
            <a:r>
              <a:t>isLocked→触发云端校验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273552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8FA8"/>
                </a:solidFill>
                <a:latin typeface="Arial"/>
              </a:defRPr>
            </a:pPr>
            <a:r>
              <a:t>降级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3080" y="3273552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8EC"/>
                </a:solidFill>
                <a:latin typeface="Consolas"/>
              </a:defRPr>
            </a:pPr>
            <a:r>
              <a:t>云端超时2s后接管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234440"/>
            <a:ext cx="5577840" cy="2194560"/>
          </a:xfrm>
          <a:prstGeom prst="roundRect">
            <a:avLst/>
          </a:prstGeom>
          <a:solidFill>
            <a:srgbClr val="1E2340"/>
          </a:solidFill>
          <a:ln w="12700">
            <a:solidFill>
              <a:srgbClr val="7B6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13716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B6BA0"/>
                </a:solidFill>
                <a:latin typeface="Arial"/>
              </a:defRPr>
            </a:pPr>
            <a:r>
              <a:t>云端 AI 引擎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1691640"/>
            <a:ext cx="5029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B6BA0"/>
                </a:solidFill>
                <a:latin typeface="Consolas"/>
              </a:defRPr>
            </a:pPr>
            <a:r>
              <a:t>CloudGestureRecognizer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2103120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8FA8"/>
                </a:solidFill>
                <a:latin typeface="Arial"/>
              </a:defRPr>
            </a:pPr>
            <a:r>
              <a:t>精度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35240" y="2103120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8EC"/>
                </a:solidFill>
                <a:latin typeface="Consolas"/>
              </a:defRPr>
            </a:pPr>
            <a:r>
              <a:t>MediaPipe 级关键点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2395727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8FA8"/>
                </a:solidFill>
                <a:latin typeface="Arial"/>
              </a:defRPr>
            </a:pPr>
            <a:r>
              <a:t>触发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35240" y="2395727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8EC"/>
                </a:solidFill>
                <a:latin typeface="Consolas"/>
              </a:defRPr>
            </a:pPr>
            <a:r>
              <a:t>仅 FIST 首次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2688336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8FA8"/>
                </a:solidFill>
                <a:latin typeface="Arial"/>
              </a:defRPr>
            </a:pPr>
            <a:r>
              <a:t>通信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35240" y="2688336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8EC"/>
                </a:solidFill>
                <a:latin typeface="Consolas"/>
              </a:defRPr>
            </a:pPr>
            <a:r>
              <a:t>HTTP · Base64 · JSON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2980944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8FA8"/>
                </a:solidFill>
                <a:latin typeface="Arial"/>
              </a:defRPr>
            </a:pPr>
            <a:r>
              <a:t>超时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35240" y="2980944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8EC"/>
                </a:solidFill>
                <a:latin typeface="Consolas"/>
              </a:defRPr>
            </a:pPr>
            <a:r>
              <a:t>2s→降级本地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3273552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8FA8"/>
                </a:solidFill>
                <a:latin typeface="Arial"/>
              </a:defRPr>
            </a:pPr>
            <a:r>
              <a:t>冲突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35240" y="3273552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8EC"/>
                </a:solidFill>
                <a:latin typeface="Consolas"/>
              </a:defRPr>
            </a:pPr>
            <a:r>
              <a:t>本地≠云端→放弃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20040" y="3566160"/>
            <a:ext cx="5577840" cy="777240"/>
          </a:xfrm>
          <a:prstGeom prst="roundRect">
            <a:avLst/>
          </a:prstGeom>
          <a:solidFill>
            <a:srgbClr val="1E2340"/>
          </a:solidFill>
          <a:ln w="1270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3657600"/>
            <a:ext cx="118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D4A843"/>
                </a:solidFill>
                <a:latin typeface="Consolas"/>
              </a:defRPr>
            </a:pPr>
            <a:r>
              <a:t>0.8s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83080" y="3657600"/>
            <a:ext cx="3840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E8EC"/>
                </a:solidFill>
                <a:latin typeface="Arial"/>
              </a:defRPr>
            </a:pPr>
            <a:r>
              <a:t>COOLDOWN_DURATION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783080" y="3913632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8FA8"/>
                </a:solidFill>
                <a:latin typeface="Arial"/>
              </a:defRPr>
            </a:pPr>
            <a:r>
              <a:t>两次释放最小间隔 · 防手势抖动连发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72200" y="3566160"/>
            <a:ext cx="5577840" cy="777240"/>
          </a:xfrm>
          <a:prstGeom prst="roundRect">
            <a:avLst/>
          </a:prstGeom>
          <a:solidFill>
            <a:srgbClr val="1E2340"/>
          </a:solidFill>
          <a:ln w="12700">
            <a:solidFill>
              <a:srgbClr val="C57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55080" y="3657600"/>
            <a:ext cx="118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C57B8A"/>
                </a:solidFill>
                <a:latin typeface="Consolas"/>
              </a:defRPr>
            </a:pPr>
            <a:r>
              <a:t>1.5s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35240" y="3657600"/>
            <a:ext cx="3840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E8EC"/>
                </a:solidFill>
                <a:latin typeface="Arial"/>
              </a:defRPr>
            </a:pPr>
            <a:r>
              <a:t>BOMB_HOLD_DURATION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35240" y="3913632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8FA8"/>
                </a:solidFill>
                <a:latin typeface="Arial"/>
              </a:defRPr>
            </a:pPr>
            <a:r>
              <a:t>握拳超此阈值 · 判定为引爆意图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20040" y="4526280"/>
            <a:ext cx="11430000" cy="2011680"/>
          </a:xfrm>
          <a:prstGeom prst="roundRect">
            <a:avLst/>
          </a:prstGeom>
          <a:solidFill>
            <a:srgbClr val="1E2340"/>
          </a:solidFill>
          <a:ln w="1270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2920" y="4617720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843"/>
                </a:solidFill>
                <a:latin typeface="Arial"/>
              </a:defRPr>
            </a:pPr>
            <a:r>
              <a:t>融合决策规则 — GestureFusion::tick() 每帧执行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4892040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AA0B8"/>
                </a:solidFill>
                <a:latin typeface="Arial"/>
              </a:defRPr>
            </a:pPr>
            <a:r>
              <a:t>场景          本地识别        云端状态        融合策略                          结果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5157216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8FA8"/>
                </a:solidFill>
                <a:latin typeface="Consolas"/>
              </a:defRPr>
            </a:pPr>
            <a:r>
              <a:t>OPEN_PALM     持续产出角度    不触发           直接输出本地角度·驱动钩子         ✓ 输出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5422392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8FA8"/>
                </a:solidFill>
                <a:latin typeface="Consolas"/>
              </a:defRPr>
            </a:pPr>
            <a:r>
              <a:t>FIST 首次      isLocked=true    HTTP请求        设PENDING·保留角度·等待回调       ⏳ 等待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" y="5687568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8FA8"/>
                </a:solidFill>
                <a:latin typeface="Consolas"/>
              </a:defRPr>
            </a:pPr>
            <a:r>
              <a:t>云端确认FIST   —               conf≥0.7        执行释放·写入COOLDOWN 0.8s       ✓ 释放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" y="5952744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8FA8"/>
                </a:solidFill>
                <a:latin typeface="Consolas"/>
              </a:defRPr>
            </a:pPr>
            <a:r>
              <a:t>云端超时 2s    —               无响应           安全降级·本地FIST直接执行         ⚡ 降级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" y="6217920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8FA8"/>
                </a:solidFill>
                <a:latin typeface="Consolas"/>
              </a:defRPr>
            </a:pPr>
            <a:r>
              <a:t>本地≠云端      FIST            OPEN_PALM        安全优先·放弃本次触发             ✗ 放弃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656832"/>
            <a:ext cx="12191695" cy="18288"/>
          </a:xfrm>
          <a:prstGeom prst="rect">
            <a:avLst/>
          </a:prstGeom>
          <a:solidFill>
            <a:srgbClr val="C57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155680" y="642823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55A70"/>
                </a:solidFill>
                <a:latin typeface="Consolas"/>
              </a:defRPr>
            </a:pPr>
            <a:r>
              <a:t>07/12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8FA8"/>
                </a:solidFill>
                <a:latin typeface="Consolas"/>
              </a:defRPr>
            </a:pPr>
            <a:r>
              <a:t>DESIGN PATTERNS · STRATEGY + SINGLETON + OBSERVER IN C++17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A7FB5"/>
                </a:solidFill>
                <a:latin typeface="Arial"/>
              </a:defRPr>
            </a:pPr>
            <a:r>
              <a:t>设计模式：三种经典模式的 C++17 实现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371600" cy="27432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28600" y="1234440"/>
            <a:ext cx="3657600" cy="5303520"/>
          </a:xfrm>
          <a:prstGeom prst="roundRect">
            <a:avLst/>
          </a:prstGeom>
          <a:solidFill>
            <a:srgbClr val="1E2340"/>
          </a:solidFill>
          <a:ln w="12700">
            <a:solidFill>
              <a:srgbClr val="4A7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3716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4A7FB5"/>
                </a:solidFill>
                <a:latin typeface="Consolas"/>
              </a:defRPr>
            </a:pPr>
            <a:r>
              <a:t>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664208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A8FA8"/>
                </a:solidFill>
                <a:latin typeface="Arial"/>
              </a:defRPr>
            </a:pPr>
            <a:r>
              <a:t>策略模式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9659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8E8EC"/>
                </a:solidFill>
                <a:latin typeface="Arial"/>
              </a:defRPr>
            </a:pPr>
            <a:r>
              <a:t>应用：IGestureRecognizer 纯虚接口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377440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8FA8"/>
                </a:solidFill>
                <a:latin typeface="Arial"/>
              </a:defRPr>
            </a:pPr>
            <a:r>
              <a:t>✓ 3 个具体策略：Local / Cloud /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670048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8FA8"/>
                </a:solidFill>
                <a:latin typeface="Arial"/>
              </a:defRPr>
            </a:pPr>
            <a:r>
              <a:t>✓ virtual ... = 0 定义契约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962656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8FA8"/>
                </a:solidFill>
                <a:latin typeface="Arial"/>
              </a:defRPr>
            </a:pPr>
            <a:r>
              <a:t>✓ 运行时动态切换识别策略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3255264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8FA8"/>
                </a:solidFill>
                <a:latin typeface="Arial"/>
              </a:defRPr>
            </a:pPr>
            <a:r>
              <a:t>✓ 新增识别器无需改融合器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3749039"/>
            <a:ext cx="320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AB0C8"/>
                </a:solidFill>
                <a:latin typeface="Consolas"/>
              </a:defRPr>
            </a:pPr>
            <a:r>
              <a:t>class IGestureRecognizer {</a:t>
            </a:r>
            <a:br/>
            <a:r>
              <a:t>  virtual bool start() = 0;</a:t>
            </a:r>
            <a:br/>
            <a:r>
              <a:t>  virtual void pushFrame(</a:t>
            </a:r>
            <a:br/>
            <a:r>
              <a:t>    const vector&lt;uint8_t&gt;&amp;) = 0;</a:t>
            </a:r>
            <a:br/>
            <a:r>
              <a:t>  using CB = function&lt;void(</a:t>
            </a:r>
            <a:br/>
            <a:r>
              <a:t>    const GestureResult&amp;)&gt;;</a:t>
            </a:r>
            <a:br/>
            <a:r>
              <a:t>};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60520" y="1234440"/>
            <a:ext cx="3657600" cy="5303520"/>
          </a:xfrm>
          <a:prstGeom prst="roundRect">
            <a:avLst/>
          </a:prstGeom>
          <a:solidFill>
            <a:srgbClr val="1E2340"/>
          </a:solidFill>
          <a:ln w="1270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43400" y="13716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D4A843"/>
                </a:solidFill>
                <a:latin typeface="Consolas"/>
              </a:defRPr>
            </a:pPr>
            <a:r>
              <a:t>Singleton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1664208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A8FA8"/>
                </a:solidFill>
                <a:latin typeface="Arial"/>
              </a:defRPr>
            </a:pPr>
            <a:r>
              <a:t>单例模式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19659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8E8EC"/>
                </a:solidFill>
                <a:latin typeface="Arial"/>
              </a:defRPr>
            </a:pPr>
            <a:r>
              <a:t>应用：GestureFusion 全局唯一融合器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2377440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8FA8"/>
                </a:solidFill>
                <a:latin typeface="Arial"/>
              </a:defRPr>
            </a:pPr>
            <a:r>
              <a:t>✓ static getInstance() 获取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2670048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8FA8"/>
                </a:solidFill>
                <a:latin typeface="Arial"/>
              </a:defRPr>
            </a:pPr>
            <a:r>
              <a:t>✓ 构造=default 私有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2962656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8FA8"/>
                </a:solidFill>
                <a:latin typeface="Arial"/>
              </a:defRPr>
            </a:pPr>
            <a:r>
              <a:t>✓ 拷贝=delete 禁复制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3400" y="3255264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8FA8"/>
                </a:solidFill>
                <a:latin typeface="Arial"/>
              </a:defRPr>
            </a:pPr>
            <a:r>
              <a:t>✓ 集中管理融合状态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3749039"/>
            <a:ext cx="320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AB0C8"/>
                </a:solidFill>
                <a:latin typeface="Consolas"/>
              </a:defRPr>
            </a:pPr>
            <a:r>
              <a:t>class GestureFusion {</a:t>
            </a:r>
            <a:br/>
            <a:r>
              <a:t>  static GestureFusion*</a:t>
            </a:r>
            <a:br/>
            <a:r>
              <a:t>    getInstance();</a:t>
            </a:r>
            <a:br/>
            <a:r>
              <a:t>  GestureCommand tick(float dt);</a:t>
            </a:r>
            <a:br/>
            <a:r>
              <a:t>private:</a:t>
            </a:r>
            <a:br/>
            <a:r>
              <a:t>  GestureFusion() = default;</a:t>
            </a:r>
            <a:br/>
            <a:r>
              <a:t>};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92440" y="1234440"/>
            <a:ext cx="3657600" cy="5303520"/>
          </a:xfrm>
          <a:prstGeom prst="roundRect">
            <a:avLst/>
          </a:prstGeom>
          <a:solidFill>
            <a:srgbClr val="1E2340"/>
          </a:solidFill>
          <a:ln w="12700">
            <a:solidFill>
              <a:srgbClr val="5BA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75319" y="13716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5BAF8A"/>
                </a:solidFill>
                <a:latin typeface="Consolas"/>
              </a:defRPr>
            </a:pPr>
            <a:r>
              <a:t>Observer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19" y="1664208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A8FA8"/>
                </a:solidFill>
                <a:latin typeface="Arial"/>
              </a:defRPr>
            </a:pPr>
            <a:r>
              <a:t>观察者模式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5319" y="19659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8E8EC"/>
                </a:solidFill>
                <a:latin typeface="Arial"/>
              </a:defRPr>
            </a:pPr>
            <a:r>
              <a:t>应用：ResultCallback 异步通知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19" y="2377440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8FA8"/>
                </a:solidFill>
                <a:latin typeface="Arial"/>
              </a:defRPr>
            </a:pPr>
            <a:r>
              <a:t>✓ std::function 回调注册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19" y="2670048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8FA8"/>
                </a:solidFill>
                <a:latin typeface="Arial"/>
              </a:defRPr>
            </a:pPr>
            <a:r>
              <a:t>✓ lambda 捕获极简实现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19" y="2962656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8FA8"/>
                </a:solidFill>
                <a:latin typeface="Arial"/>
              </a:defRPr>
            </a:pPr>
            <a:r>
              <a:t>✓ 识别线程 → 游戏线程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5319" y="3255264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8FA8"/>
                </a:solidFill>
                <a:latin typeface="Arial"/>
              </a:defRPr>
            </a:pPr>
            <a:r>
              <a:t>✓ 生产者-消费者解耦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19" y="3749039"/>
            <a:ext cx="320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AB0C8"/>
                </a:solidFill>
                <a:latin typeface="Consolas"/>
              </a:defRPr>
            </a:pPr>
            <a:r>
              <a:t>recognizer-&gt;setCallback(</a:t>
            </a:r>
            <a:br/>
            <a:r>
              <a:t>  [this](const Result&amp; r) {</a:t>
            </a:r>
            <a:br/>
            <a:r>
              <a:t>    this-&gt;onResult(r);</a:t>
            </a:r>
            <a:br/>
            <a:r>
              <a:t>  });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656832"/>
            <a:ext cx="12191695" cy="18288"/>
          </a:xfrm>
          <a:prstGeom prst="rect">
            <a:avLst/>
          </a:prstGeom>
          <a:solidFill>
            <a:srgbClr val="5BA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155680" y="642823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55A70"/>
                </a:solidFill>
                <a:latin typeface="Consolas"/>
              </a:defRPr>
            </a:pPr>
            <a:r>
              <a:t>08/12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8FA8"/>
                </a:solidFill>
                <a:latin typeface="Consolas"/>
              </a:defRPr>
            </a:pPr>
            <a:r>
              <a:t>TESTING &amp; PERFORMANCE · 35FPS + 85MS + 92% ACCURACY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5BAF8A"/>
                </a:solidFill>
                <a:latin typeface="Arial"/>
              </a:defRPr>
            </a:pPr>
            <a:r>
              <a:t>测试验证与性能指标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371600" cy="27432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97280" y="1371600"/>
            <a:ext cx="3474720" cy="2286000"/>
          </a:xfrm>
          <a:prstGeom prst="roundRect">
            <a:avLst/>
          </a:prstGeom>
          <a:solidFill>
            <a:srgbClr val="1E2340"/>
          </a:solidFill>
          <a:ln w="12700">
            <a:solidFill>
              <a:srgbClr val="5BA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0876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5BAF8A"/>
                </a:solidFill>
                <a:latin typeface="Consolas"/>
              </a:defRPr>
            </a:pPr>
            <a:r>
              <a:t>35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39" y="1874519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5BAF8A"/>
                </a:solidFill>
                <a:latin typeface="Consolas"/>
              </a:defRPr>
            </a:pPr>
            <a:r>
              <a:t>FPS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65176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A8FA8"/>
                </a:solidFill>
                <a:latin typeface="Arial"/>
              </a:defRPr>
            </a:pPr>
            <a:r>
              <a:t>游戏帧率</a:t>
            </a:r>
            <a:br/>
            <a:r>
              <a:t>≥30FPS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2918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5BAF8A"/>
                </a:solidFill>
                <a:latin typeface="Arial"/>
              </a:defRPr>
            </a:pPr>
            <a:r>
              <a:t>达标 +17%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1371600"/>
            <a:ext cx="3474720" cy="2286000"/>
          </a:xfrm>
          <a:prstGeom prst="roundRect">
            <a:avLst/>
          </a:prstGeom>
          <a:solidFill>
            <a:srgbClr val="1E2340"/>
          </a:solidFill>
          <a:ln w="1270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0" y="150876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D4A843"/>
                </a:solidFill>
                <a:latin typeface="Consolas"/>
              </a:defRPr>
            </a:pPr>
            <a:r>
              <a:t>85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1874519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D4A843"/>
                </a:solidFill>
                <a:latin typeface="Consolas"/>
              </a:defRPr>
            </a:pPr>
            <a:r>
              <a:t>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265176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A8FA8"/>
                </a:solidFill>
                <a:latin typeface="Arial"/>
              </a:defRPr>
            </a:pPr>
            <a:r>
              <a:t>识别延迟</a:t>
            </a:r>
            <a:br/>
            <a:r>
              <a:t>≤100ms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32918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D4A843"/>
                </a:solidFill>
                <a:latin typeface="Arial"/>
              </a:defRPr>
            </a:pPr>
            <a:r>
              <a:t>达标 -15%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19" y="1371600"/>
            <a:ext cx="3474720" cy="2286000"/>
          </a:xfrm>
          <a:prstGeom prst="roundRect">
            <a:avLst/>
          </a:prstGeom>
          <a:solidFill>
            <a:srgbClr val="1E2340"/>
          </a:solidFill>
          <a:ln w="12700">
            <a:solidFill>
              <a:srgbClr val="4A7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35440" y="150876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4A7FB5"/>
                </a:solidFill>
                <a:latin typeface="Consolas"/>
              </a:defRPr>
            </a:pPr>
            <a:r>
              <a:t>92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1874519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4A7FB5"/>
                </a:solidFill>
                <a:latin typeface="Consolas"/>
              </a:defRPr>
            </a:pPr>
            <a:r>
              <a:t>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265176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A8FA8"/>
                </a:solidFill>
                <a:latin typeface="Arial"/>
              </a:defRPr>
            </a:pPr>
            <a:r>
              <a:t>识别准确率</a:t>
            </a:r>
            <a:br/>
            <a:r>
              <a:t>≥90%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32918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4A7FB5"/>
                </a:solidFill>
                <a:latin typeface="Arial"/>
              </a:defRPr>
            </a:pPr>
            <a:r>
              <a:t>达标 +2%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0040" y="3886200"/>
            <a:ext cx="5577840" cy="2743200"/>
          </a:xfrm>
          <a:prstGeom prst="roundRect">
            <a:avLst/>
          </a:prstGeom>
          <a:solidFill>
            <a:srgbClr val="1E2340"/>
          </a:solidFill>
          <a:ln w="12700">
            <a:solidFill>
              <a:srgbClr val="6CA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977639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E8EC"/>
                </a:solidFill>
                <a:latin typeface="Arial"/>
              </a:defRPr>
            </a:pPr>
            <a:r>
              <a:t>功能测试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251960"/>
            <a:ext cx="1645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8FA8"/>
                </a:solidFill>
                <a:latin typeface="Arial"/>
              </a:defRPr>
            </a:pPr>
            <a:r>
              <a:t>测试项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31720" y="4251960"/>
            <a:ext cx="1645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8FA8"/>
                </a:solidFill>
                <a:latin typeface="Arial"/>
              </a:defRPr>
            </a:pPr>
            <a:r>
              <a:t>方法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59" y="4251960"/>
            <a:ext cx="1645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8FA8"/>
                </a:solidFill>
                <a:latin typeface="Arial"/>
              </a:defRPr>
            </a:pPr>
            <a:r>
              <a:t>结果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448056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8EC"/>
                </a:solidFill>
                <a:latin typeface="Arial"/>
              </a:defRPr>
            </a:pPr>
            <a:r>
              <a:t>手势识别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31720" y="4480560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8FA8"/>
                </a:solidFill>
                <a:latin typeface="Arial"/>
              </a:defRPr>
            </a:pPr>
            <a:r>
              <a:t>采集手部动作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9159" y="448056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BAF8A"/>
                </a:solidFill>
                <a:latin typeface="Arial"/>
              </a:defRPr>
            </a:pPr>
            <a:r>
              <a:t>✓ OPEN/FIST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4828032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8EC"/>
                </a:solidFill>
                <a:latin typeface="Arial"/>
              </a:defRPr>
            </a:pPr>
            <a:r>
              <a:t>角度控制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31720" y="4828032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8FA8"/>
                </a:solidFill>
                <a:latin typeface="Arial"/>
              </a:defRPr>
            </a:pPr>
            <a:r>
              <a:t>倾斜 ±30°/60°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09159" y="48280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BAF8A"/>
                </a:solidFill>
                <a:latin typeface="Arial"/>
              </a:defRPr>
            </a:pPr>
            <a:r>
              <a:t>✓ 跟随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5175504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8EC"/>
                </a:solidFill>
                <a:latin typeface="Arial"/>
              </a:defRPr>
            </a:pPr>
            <a:r>
              <a:t>释放钩子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31720" y="5175504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8FA8"/>
                </a:solidFill>
                <a:latin typeface="Arial"/>
              </a:defRPr>
            </a:pPr>
            <a:r>
              <a:t>握拳动作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09159" y="517550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BAF8A"/>
                </a:solidFill>
                <a:latin typeface="Arial"/>
              </a:defRPr>
            </a:pPr>
            <a:r>
              <a:t>✓ 释放抓取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5522976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8EC"/>
                </a:solidFill>
                <a:latin typeface="Arial"/>
              </a:defRPr>
            </a:pPr>
            <a:r>
              <a:t>引爆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31720" y="5522976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8FA8"/>
                </a:solidFill>
                <a:latin typeface="Arial"/>
              </a:defRPr>
            </a:pPr>
            <a:r>
              <a:t>长握1.5s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09159" y="552297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BAF8A"/>
                </a:solidFill>
                <a:latin typeface="Arial"/>
              </a:defRPr>
            </a:pPr>
            <a:r>
              <a:t>✓ 爆炸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5870448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8EC"/>
                </a:solidFill>
                <a:latin typeface="Arial"/>
              </a:defRPr>
            </a:pPr>
            <a:r>
              <a:t>商店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331720" y="5870448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8FA8"/>
                </a:solidFill>
                <a:latin typeface="Arial"/>
              </a:defRPr>
            </a:pPr>
            <a:r>
              <a:t>点击购买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09159" y="5870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BAF8A"/>
                </a:solidFill>
                <a:latin typeface="Arial"/>
              </a:defRPr>
            </a:pPr>
            <a:r>
              <a:t>✓ 生效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621792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8EC"/>
                </a:solidFill>
                <a:latin typeface="Arial"/>
              </a:defRPr>
            </a:pPr>
            <a:r>
              <a:t>兜底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331720" y="6217920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8FA8"/>
                </a:solidFill>
                <a:latin typeface="Arial"/>
              </a:defRPr>
            </a:pPr>
            <a:r>
              <a:t>断开摄像头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09159" y="621792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BAF8A"/>
                </a:solidFill>
                <a:latin typeface="Arial"/>
              </a:defRPr>
            </a:pPr>
            <a:r>
              <a:t>⚡ 键盘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172200" y="3886200"/>
            <a:ext cx="5577840" cy="2743200"/>
          </a:xfrm>
          <a:prstGeom prst="roundRect">
            <a:avLst/>
          </a:prstGeom>
          <a:solidFill>
            <a:srgbClr val="1E2340"/>
          </a:solidFill>
          <a:ln w="12700">
            <a:solidFill>
              <a:srgbClr val="7B6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55080" y="3977639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E8EC"/>
                </a:solidFill>
                <a:latin typeface="Arial"/>
              </a:defRPr>
            </a:pPr>
            <a:r>
              <a:t>边界鲁棒性测试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55080" y="4251960"/>
            <a:ext cx="1645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8FA8"/>
                </a:solidFill>
                <a:latin typeface="Arial"/>
              </a:defRPr>
            </a:pPr>
            <a:r>
              <a:t>测试项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83879" y="4251960"/>
            <a:ext cx="1645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8FA8"/>
                </a:solidFill>
                <a:latin typeface="Arial"/>
              </a:defRPr>
            </a:pPr>
            <a:r>
              <a:t>方法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61320" y="4251960"/>
            <a:ext cx="1645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8FA8"/>
                </a:solidFill>
                <a:latin typeface="Arial"/>
              </a:defRPr>
            </a:pPr>
            <a:r>
              <a:t>结果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55080" y="448056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8EC"/>
                </a:solidFill>
                <a:latin typeface="Arial"/>
              </a:defRPr>
            </a:pPr>
            <a:r>
              <a:t>无手部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183879" y="4480560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8FA8"/>
                </a:solidFill>
                <a:latin typeface="Arial"/>
              </a:defRPr>
            </a:pPr>
            <a:r>
              <a:t>空白区域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561320" y="448056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BAF8A"/>
                </a:solidFill>
                <a:latin typeface="Arial"/>
              </a:defRPr>
            </a:pPr>
            <a:r>
              <a:t>✓ 暂停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55080" y="4828032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8EC"/>
                </a:solidFill>
                <a:latin typeface="Arial"/>
              </a:defRPr>
            </a:pPr>
            <a:r>
              <a:t>光照变化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183879" y="4828032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8FA8"/>
                </a:solidFill>
                <a:latin typeface="Arial"/>
              </a:defRPr>
            </a:pPr>
            <a:r>
              <a:t>50~500lux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561320" y="48280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BAF8A"/>
                </a:solidFill>
                <a:latin typeface="Arial"/>
              </a:defRPr>
            </a:pPr>
            <a:r>
              <a:t>✓ 稳定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55080" y="5175504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8EC"/>
                </a:solidFill>
                <a:latin typeface="Arial"/>
              </a:defRPr>
            </a:pPr>
            <a:r>
              <a:t>多人同框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83879" y="5175504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8FA8"/>
                </a:solidFill>
                <a:latin typeface="Arial"/>
              </a:defRPr>
            </a:pPr>
            <a:r>
              <a:t>3人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561320" y="517550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BAF8A"/>
                </a:solidFill>
                <a:latin typeface="Arial"/>
              </a:defRPr>
            </a:pPr>
            <a:r>
              <a:t>✓ 最大手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355080" y="5522976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8EC"/>
                </a:solidFill>
                <a:latin typeface="Arial"/>
              </a:defRPr>
            </a:pPr>
            <a:r>
              <a:t>网络断连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183879" y="5522976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8FA8"/>
                </a:solidFill>
                <a:latin typeface="Arial"/>
              </a:defRPr>
            </a:pPr>
            <a:r>
              <a:t>断WiFi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561320" y="552297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BAF8A"/>
                </a:solidFill>
                <a:latin typeface="Arial"/>
              </a:defRPr>
            </a:pPr>
            <a:r>
              <a:t>⚡ 降级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355080" y="5870448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8EC"/>
                </a:solidFill>
                <a:latin typeface="Arial"/>
              </a:defRPr>
            </a:pPr>
            <a:r>
              <a:t>快速切换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183879" y="5870448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8FA8"/>
                </a:solidFill>
                <a:latin typeface="Arial"/>
              </a:defRPr>
            </a:pPr>
            <a:r>
              <a:t>5次/s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561320" y="5870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BAF8A"/>
                </a:solidFill>
                <a:latin typeface="Arial"/>
              </a:defRPr>
            </a:pPr>
            <a:r>
              <a:t>✓ 去抖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355080" y="621792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8EC"/>
                </a:solidFill>
                <a:latin typeface="Arial"/>
              </a:defRPr>
            </a:pPr>
            <a:r>
              <a:t>遮挡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183879" y="6217920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8FA8"/>
                </a:solidFill>
                <a:latin typeface="Arial"/>
              </a:defRPr>
            </a:pPr>
            <a:r>
              <a:t>30%区域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561320" y="621792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BAF8A"/>
                </a:solidFill>
                <a:latin typeface="Arial"/>
              </a:defRPr>
            </a:pPr>
            <a:r>
              <a:t>⚠ 过滤</a:t>
            </a:r>
          </a:p>
        </p:txBody>
      </p:sp>
      <p:sp>
        <p:nvSpPr>
          <p:cNvPr id="66" name="Rectangle 65"/>
          <p:cNvSpPr/>
          <p:nvPr/>
        </p:nvSpPr>
        <p:spPr>
          <a:xfrm>
            <a:off x="0" y="6656832"/>
            <a:ext cx="12191695" cy="18288"/>
          </a:xfrm>
          <a:prstGeom prst="rect">
            <a:avLst/>
          </a:prstGeom>
          <a:solidFill>
            <a:srgbClr val="4A7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1155680" y="642823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55A70"/>
                </a:solidFill>
                <a:latin typeface="Consolas"/>
              </a:defRPr>
            </a:pPr>
            <a:r>
              <a:t>09/12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8FA8"/>
                </a:solidFill>
                <a:latin typeface="Consolas"/>
              </a:defRPr>
            </a:pPr>
            <a:r>
              <a:t>INNOVATION · 4 CORE TECHNICAL BREAKTHROUGHS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D4A843"/>
                </a:solidFill>
                <a:latin typeface="Arial"/>
              </a:defRPr>
            </a:pPr>
            <a:r>
              <a:t>创新亮点：四大核心技术突破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371600" cy="27432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28600" y="1234440"/>
            <a:ext cx="5669280" cy="2468880"/>
          </a:xfrm>
          <a:prstGeom prst="roundRect">
            <a:avLst/>
          </a:prstGeom>
          <a:solidFill>
            <a:srgbClr val="1E2340"/>
          </a:solidFill>
          <a:ln w="12700">
            <a:solidFill>
              <a:srgbClr val="4A7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32588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E8E8EC"/>
                </a:solidFill>
                <a:latin typeface="Arial"/>
              </a:defRPr>
            </a:pPr>
            <a:r>
              <a:t>双引擎融合架构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67335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7FB5"/>
                </a:solidFill>
                <a:latin typeface="Consolas"/>
              </a:defRPr>
            </a:pPr>
            <a:r>
              <a:t>本地 OpenCV (30ms) + 云端 AI (按需)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14884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8FA8"/>
                </a:solidFill>
                <a:latin typeface="Arial"/>
              </a:defRPr>
            </a:pPr>
            <a:r>
              <a:t>兼顾实时性与准确性 · 云端不可用自动降级 · 置信度加权融合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3291840"/>
            <a:ext cx="1645920" cy="256032"/>
          </a:xfrm>
          <a:prstGeom prst="roundRect">
            <a:avLst/>
          </a:prstGeom>
          <a:solidFill>
            <a:srgbClr val="0A0E27"/>
          </a:solidFill>
          <a:ln w="12700">
            <a:solidFill>
              <a:srgbClr val="4A7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4A7FB5"/>
                </a:solidFill>
                <a:latin typeface="Arial"/>
              </a:defRPr>
            </a:pPr>
            <a:r>
              <a:t>双识别器并行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94560" y="3291840"/>
            <a:ext cx="1645920" cy="256032"/>
          </a:xfrm>
          <a:prstGeom prst="roundRect">
            <a:avLst/>
          </a:prstGeom>
          <a:solidFill>
            <a:srgbClr val="0A0E27"/>
          </a:solidFill>
          <a:ln w="12700">
            <a:solidFill>
              <a:srgbClr val="4A7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4A7FB5"/>
                </a:solidFill>
                <a:latin typeface="Arial"/>
              </a:defRPr>
            </a:pPr>
            <a:r>
              <a:t>安全优先策略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77639" y="3291840"/>
            <a:ext cx="1645920" cy="256032"/>
          </a:xfrm>
          <a:prstGeom prst="roundRect">
            <a:avLst/>
          </a:prstGeom>
          <a:solidFill>
            <a:srgbClr val="0A0E27"/>
          </a:solidFill>
          <a:ln w="12700">
            <a:solidFill>
              <a:srgbClr val="4A7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4A7FB5"/>
                </a:solidFill>
                <a:latin typeface="Arial"/>
              </a:defRPr>
            </a:pPr>
            <a:r>
              <a:t>自动降级回退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234440"/>
            <a:ext cx="5669280" cy="2468880"/>
          </a:xfrm>
          <a:prstGeom prst="roundRect">
            <a:avLst/>
          </a:prstGeom>
          <a:solidFill>
            <a:srgbClr val="1E2340"/>
          </a:solidFill>
          <a:ln w="1270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32588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E8E8EC"/>
                </a:solidFill>
                <a:latin typeface="Arial"/>
              </a:defRPr>
            </a:pPr>
            <a:r>
              <a:t>手势即指令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167335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4A843"/>
                </a:solidFill>
                <a:latin typeface="Consolas"/>
              </a:defRPr>
            </a:pPr>
            <a:r>
              <a:t>OPEN→瞄准 FIST→释放 长握1.5s→引爆 倾斜→方向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14884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8FA8"/>
                </a:solidFill>
                <a:latin typeface="Arial"/>
              </a:defRPr>
            </a:pPr>
            <a:r>
              <a:t>直连语义到操作 · 无键盘鼠标中介 · 键盘模式智能兜底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3291840"/>
            <a:ext cx="1645920" cy="256032"/>
          </a:xfrm>
          <a:prstGeom prst="roundRect">
            <a:avLst/>
          </a:prstGeom>
          <a:solidFill>
            <a:srgbClr val="0A0E27"/>
          </a:solidFill>
          <a:ln w="1270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D4A843"/>
                </a:solidFill>
                <a:latin typeface="Arial"/>
              </a:defRPr>
            </a:pPr>
            <a:r>
              <a:t>四种手势指令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3291840"/>
            <a:ext cx="1645920" cy="256032"/>
          </a:xfrm>
          <a:prstGeom prst="roundRect">
            <a:avLst/>
          </a:prstGeom>
          <a:solidFill>
            <a:srgbClr val="0A0E27"/>
          </a:solidFill>
          <a:ln w="1270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D4A843"/>
                </a:solidFill>
                <a:latin typeface="Arial"/>
              </a:defRPr>
            </a:pPr>
            <a:r>
              <a:t>键盘智能兜底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921240" y="3291840"/>
            <a:ext cx="1645920" cy="256032"/>
          </a:xfrm>
          <a:prstGeom prst="roundRect">
            <a:avLst/>
          </a:prstGeom>
          <a:solidFill>
            <a:srgbClr val="0A0E27"/>
          </a:solidFill>
          <a:ln w="1270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D4A843"/>
                </a:solidFill>
                <a:latin typeface="Arial"/>
              </a:defRPr>
            </a:pPr>
            <a:r>
              <a:t>自然交互范式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28600" y="3886200"/>
            <a:ext cx="5669280" cy="2468880"/>
          </a:xfrm>
          <a:prstGeom prst="roundRect">
            <a:avLst/>
          </a:prstGeom>
          <a:solidFill>
            <a:srgbClr val="1E2340"/>
          </a:solidFill>
          <a:ln w="12700">
            <a:solidFill>
              <a:srgbClr val="5BA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3977639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E8E8EC"/>
                </a:solidFill>
                <a:latin typeface="Arial"/>
              </a:defRPr>
            </a:pPr>
            <a:r>
              <a:t>异步非阻塞架构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32511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BAF8A"/>
                </a:solidFill>
                <a:latin typeface="Consolas"/>
              </a:defRPr>
            </a:pPr>
            <a:r>
              <a:t>pushFrame 即时返回 · ResultCallback 异步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480060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8FA8"/>
                </a:solidFill>
                <a:latin typeface="Arial"/>
              </a:defRPr>
            </a:pPr>
            <a:r>
              <a:t>std::atomic 无锁设计 · 零互斥锁 · 云端 HTTP 同样异步 · 35FPS 不阻塞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1480" y="5943600"/>
            <a:ext cx="1645920" cy="256032"/>
          </a:xfrm>
          <a:prstGeom prst="roundRect">
            <a:avLst/>
          </a:prstGeom>
          <a:solidFill>
            <a:srgbClr val="0A0E27"/>
          </a:solidFill>
          <a:ln w="12700">
            <a:solidFill>
              <a:srgbClr val="5BA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5BAF8A"/>
                </a:solidFill>
                <a:latin typeface="Arial"/>
              </a:defRPr>
            </a:pPr>
            <a:r>
              <a:t>std::atomic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194560" y="5943600"/>
            <a:ext cx="1645920" cy="256032"/>
          </a:xfrm>
          <a:prstGeom prst="roundRect">
            <a:avLst/>
          </a:prstGeom>
          <a:solidFill>
            <a:srgbClr val="0A0E27"/>
          </a:solidFill>
          <a:ln w="12700">
            <a:solidFill>
              <a:srgbClr val="5BA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5BAF8A"/>
                </a:solidFill>
                <a:latin typeface="Arial"/>
              </a:defRPr>
            </a:pPr>
            <a:r>
              <a:t>std::function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977639" y="5943600"/>
            <a:ext cx="1645920" cy="256032"/>
          </a:xfrm>
          <a:prstGeom prst="roundRect">
            <a:avLst/>
          </a:prstGeom>
          <a:solidFill>
            <a:srgbClr val="0A0E27"/>
          </a:solidFill>
          <a:ln w="12700">
            <a:solidFill>
              <a:srgbClr val="5BA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5BAF8A"/>
                </a:solidFill>
                <a:latin typeface="Arial"/>
              </a:defRPr>
            </a:pPr>
            <a:r>
              <a:t>零锁设计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3886200"/>
            <a:ext cx="5669280" cy="2468880"/>
          </a:xfrm>
          <a:prstGeom prst="roundRect">
            <a:avLst/>
          </a:prstGeom>
          <a:solidFill>
            <a:srgbClr val="1E2340"/>
          </a:solidFill>
          <a:ln w="12700">
            <a:solidFill>
              <a:srgbClr val="7B6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3977639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E8E8EC"/>
                </a:solidFill>
                <a:latin typeface="Arial"/>
              </a:defRPr>
            </a:pPr>
            <a:r>
              <a:t>状态机去抖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432511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B6BA0"/>
                </a:solidFill>
                <a:latin typeface="Consolas"/>
              </a:defRPr>
            </a:pPr>
            <a:r>
              <a:t>FSM: IDLE→AIMING→LOCKED→RELEASED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480060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8FA8"/>
                </a:solidFill>
                <a:latin typeface="Arial"/>
              </a:defRPr>
            </a:pPr>
            <a:r>
              <a:t>EMA α=0.7 平滑 · ≥3帧一致切换 · 角度≤5°/帧限幅 · 0.8s冷却 · 1.5s引爆阈值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55080" y="5943600"/>
            <a:ext cx="1645920" cy="256032"/>
          </a:xfrm>
          <a:prstGeom prst="roundRect">
            <a:avLst/>
          </a:prstGeom>
          <a:solidFill>
            <a:srgbClr val="0A0E27"/>
          </a:solidFill>
          <a:ln w="12700">
            <a:solidFill>
              <a:srgbClr val="7B6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7B6BA0"/>
                </a:solidFill>
                <a:latin typeface="Arial"/>
              </a:defRPr>
            </a:pPr>
            <a:r>
              <a:t>FSM建模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38160" y="5943600"/>
            <a:ext cx="1645920" cy="256032"/>
          </a:xfrm>
          <a:prstGeom prst="roundRect">
            <a:avLst/>
          </a:prstGeom>
          <a:solidFill>
            <a:srgbClr val="0A0E27"/>
          </a:solidFill>
          <a:ln w="12700">
            <a:solidFill>
              <a:srgbClr val="7B6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7B6BA0"/>
                </a:solidFill>
                <a:latin typeface="Arial"/>
              </a:defRPr>
            </a:pPr>
            <a:r>
              <a:t>EMA平滑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921240" y="5943600"/>
            <a:ext cx="1645920" cy="256032"/>
          </a:xfrm>
          <a:prstGeom prst="roundRect">
            <a:avLst/>
          </a:prstGeom>
          <a:solidFill>
            <a:srgbClr val="0A0E27"/>
          </a:solidFill>
          <a:ln w="12700">
            <a:solidFill>
              <a:srgbClr val="7B6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7B6BA0"/>
                </a:solidFill>
                <a:latin typeface="Arial"/>
              </a:defRPr>
            </a:pPr>
            <a:r>
              <a:t>冷却+长握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656832"/>
            <a:ext cx="12191695" cy="18288"/>
          </a:xfrm>
          <a:prstGeom prst="rect">
            <a:avLst/>
          </a:prstGeom>
          <a:solidFill>
            <a:srgbClr val="7B6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155680" y="642823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55A70"/>
                </a:solidFill>
                <a:latin typeface="Consolas"/>
              </a:defRPr>
            </a:pPr>
            <a:r>
              <a:t>10/12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8FA8"/>
                </a:solidFill>
                <a:latin typeface="Consolas"/>
              </a:defRPr>
            </a:pPr>
            <a:r>
              <a:t>C++17 · LEARNING OUTCOMES &amp; SKILL GROWTH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5BAF8A"/>
                </a:solidFill>
                <a:latin typeface="Arial"/>
              </a:defRPr>
            </a:pPr>
            <a:r>
              <a:t>C++ 学习收获总结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371600" cy="27432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20040" y="1234440"/>
            <a:ext cx="5669280" cy="5303520"/>
          </a:xfrm>
          <a:prstGeom prst="roundRect">
            <a:avLst/>
          </a:prstGeom>
          <a:solidFill>
            <a:srgbClr val="1E2340"/>
          </a:solidFill>
          <a:ln w="12700">
            <a:solidFill>
              <a:srgbClr val="5BA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BAF8A"/>
                </a:solidFill>
                <a:latin typeface="Arial"/>
              </a:defRPr>
            </a:pPr>
            <a:r>
              <a:t>C++ 技能提升雷达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28800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5BAF8A"/>
                </a:solidFill>
                <a:latin typeface="Arial"/>
              </a:defRPr>
            </a:pPr>
            <a:r>
              <a:t>面向对象编程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1828800"/>
            <a:ext cx="34747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A8FA8"/>
                </a:solidFill>
                <a:latin typeface="Arial"/>
              </a:defRPr>
            </a:pPr>
            <a:r>
              <a:t>• 纯虚接口定义与实现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993392"/>
            <a:ext cx="34747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A8FA8"/>
                </a:solidFill>
                <a:latin typeface="Arial"/>
              </a:defRPr>
            </a:pPr>
            <a:r>
              <a:t>• 多态与运行时调度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2157984"/>
            <a:ext cx="34747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A8FA8"/>
                </a:solidFill>
                <a:latin typeface="Arial"/>
              </a:defRPr>
            </a:pPr>
            <a:r>
              <a:t>• RAII 资源生命周期管理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2322576"/>
            <a:ext cx="34747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A8FA8"/>
                </a:solidFill>
                <a:latin typeface="Arial"/>
              </a:defRPr>
            </a:pPr>
            <a:r>
              <a:t>• 继承层次设计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578608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A7FB5"/>
                </a:solidFill>
                <a:latin typeface="Arial"/>
              </a:defRPr>
            </a:pPr>
            <a:r>
              <a:t>现代 C++ 特性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2578608"/>
            <a:ext cx="34747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A8FA8"/>
                </a:solidFill>
                <a:latin typeface="Arial"/>
              </a:defRPr>
            </a:pPr>
            <a:r>
              <a:t>• enum class 强类型枚举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2743200"/>
            <a:ext cx="34747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A8FA8"/>
                </a:solidFill>
                <a:latin typeface="Arial"/>
              </a:defRPr>
            </a:pPr>
            <a:r>
              <a:t>• std::function + lambda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2907791"/>
            <a:ext cx="34747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A8FA8"/>
                </a:solidFill>
                <a:latin typeface="Arial"/>
              </a:defRPr>
            </a:pPr>
            <a:r>
              <a:t>• std::atomic 无锁并发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3072384"/>
            <a:ext cx="34747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A8FA8"/>
                </a:solidFill>
                <a:latin typeface="Arial"/>
              </a:defRPr>
            </a:pPr>
            <a:r>
              <a:t>• static constexpr 编译期常量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328415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4A843"/>
                </a:solidFill>
                <a:latin typeface="Arial"/>
              </a:defRPr>
            </a:pPr>
            <a:r>
              <a:t>STL 与标准库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3328415"/>
            <a:ext cx="34747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A8FA8"/>
                </a:solidFill>
                <a:latin typeface="Arial"/>
              </a:defRPr>
            </a:pPr>
            <a:r>
              <a:t>• vector/string/unique_ptr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20" y="3493008"/>
            <a:ext cx="34747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A8FA8"/>
                </a:solidFill>
                <a:latin typeface="Arial"/>
              </a:defRPr>
            </a:pPr>
            <a:r>
              <a:t>• std::chrono 时间测量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3120" y="3657599"/>
            <a:ext cx="34747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A8FA8"/>
                </a:solidFill>
                <a:latin typeface="Arial"/>
              </a:defRPr>
            </a:pPr>
            <a:r>
              <a:t>• std::mutex + lock_guard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20" y="3822191"/>
            <a:ext cx="34747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A8FA8"/>
                </a:solidFill>
                <a:latin typeface="Arial"/>
              </a:defRPr>
            </a:pPr>
            <a:r>
              <a:t>• std::move 移动语义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078224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B6BA0"/>
                </a:solidFill>
                <a:latin typeface="Arial"/>
              </a:defRPr>
            </a:pPr>
            <a:r>
              <a:t>多线程编程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20" y="4078224"/>
            <a:ext cx="34747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A8FA8"/>
                </a:solidFill>
                <a:latin typeface="Arial"/>
              </a:defRPr>
            </a:pPr>
            <a:r>
              <a:t>• 识别线程与主线程解耦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20" y="4242816"/>
            <a:ext cx="34747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A8FA8"/>
                </a:solidFill>
                <a:latin typeface="Arial"/>
              </a:defRPr>
            </a:pPr>
            <a:r>
              <a:t>• atomic 跨线程数据共享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20" y="4407408"/>
            <a:ext cx="34747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A8FA8"/>
                </a:solidFill>
                <a:latin typeface="Arial"/>
              </a:defRPr>
            </a:pPr>
            <a:r>
              <a:t>• mutable mutex 加锁策略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03120" y="4572000"/>
            <a:ext cx="34747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A8FA8"/>
                </a:solidFill>
                <a:latin typeface="Arial"/>
              </a:defRPr>
            </a:pPr>
            <a:r>
              <a:t>• 回调异步通知机制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4828031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57B8A"/>
                </a:solidFill>
                <a:latin typeface="Arial"/>
              </a:defRPr>
            </a:pPr>
            <a:r>
              <a:t>工程与构建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03120" y="4828031"/>
            <a:ext cx="34747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A8FA8"/>
                </a:solidFill>
                <a:latin typeface="Arial"/>
              </a:defRPr>
            </a:pPr>
            <a:r>
              <a:t>• CMake 跨平台构建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03120" y="4992623"/>
            <a:ext cx="34747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A8FA8"/>
                </a:solidFill>
                <a:latin typeface="Arial"/>
              </a:defRPr>
            </a:pPr>
            <a:r>
              <a:t>• 模块化目录结构设计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03120" y="5157216"/>
            <a:ext cx="34747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A8FA8"/>
                </a:solidFill>
                <a:latin typeface="Arial"/>
              </a:defRPr>
            </a:pPr>
            <a:r>
              <a:t>• 设计模式工程实践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03120" y="5321807"/>
            <a:ext cx="34747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A8FA8"/>
                </a:solidFill>
                <a:latin typeface="Arial"/>
              </a:defRPr>
            </a:pPr>
            <a:r>
              <a:t>• Git 版本管理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5577840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88D3F"/>
                </a:solidFill>
                <a:latin typeface="Arial"/>
              </a:defRPr>
            </a:pPr>
            <a:r>
              <a:t>设计模式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03120" y="5577840"/>
            <a:ext cx="34747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A8FA8"/>
                </a:solidFill>
                <a:latin typeface="Arial"/>
              </a:defRPr>
            </a:pPr>
            <a:r>
              <a:t>• Strategy: 可替换算法族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03120" y="5742431"/>
            <a:ext cx="34747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A8FA8"/>
                </a:solidFill>
                <a:latin typeface="Arial"/>
              </a:defRPr>
            </a:pPr>
            <a:r>
              <a:t>• Singleton: 全局唯一实例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20" y="5907024"/>
            <a:ext cx="34747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A8FA8"/>
                </a:solidFill>
                <a:latin typeface="Arial"/>
              </a:defRPr>
            </a:pPr>
            <a:r>
              <a:t>• Observer: 事件驱动回调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7920" y="1234440"/>
            <a:ext cx="5669280" cy="5303520"/>
          </a:xfrm>
          <a:prstGeom prst="roundRect">
            <a:avLst/>
          </a:prstGeom>
          <a:solidFill>
            <a:srgbClr val="1E2340"/>
          </a:solidFill>
          <a:ln w="12700">
            <a:solidFill>
              <a:srgbClr val="4A7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0" y="13716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CA0D8"/>
                </a:solidFill>
                <a:latin typeface="Arial"/>
              </a:defRPr>
            </a:pPr>
            <a:r>
              <a:t>项目中最有代表性的 C++ 代码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1737360"/>
            <a:ext cx="50292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B9FD0"/>
                </a:solidFill>
                <a:latin typeface="Consolas"/>
              </a:defRPr>
            </a:pPr>
            <a:r>
              <a:t>// 1. 纯虚接口（策略模式）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1892807"/>
            <a:ext cx="50292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AB0C8"/>
                </a:solidFill>
                <a:latin typeface="Consolas"/>
              </a:defRPr>
            </a:pPr>
            <a:r>
              <a:t>class IGestureRecognizer {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2048255"/>
            <a:ext cx="50292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AB0C8"/>
                </a:solidFill>
                <a:latin typeface="Consolas"/>
              </a:defRPr>
            </a:pPr>
            <a:r>
              <a:t>public: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2203704"/>
            <a:ext cx="50292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AB0C8"/>
                </a:solidFill>
                <a:latin typeface="Consolas"/>
              </a:defRPr>
            </a:pPr>
            <a:r>
              <a:t>  using CB = std::function&lt;void(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2359152"/>
            <a:ext cx="50292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AB0C8"/>
                </a:solidFill>
                <a:latin typeface="Consolas"/>
              </a:defRPr>
            </a:pPr>
            <a:r>
              <a:t>    const GestureResult&amp;)&gt;;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2514600"/>
            <a:ext cx="50292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AB0C8"/>
                </a:solidFill>
                <a:latin typeface="Consolas"/>
              </a:defRPr>
            </a:pPr>
            <a:r>
              <a:t>  virtual bool start() = 0;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0" y="2670048"/>
            <a:ext cx="50292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AB0C8"/>
                </a:solidFill>
                <a:latin typeface="Consolas"/>
              </a:defRPr>
            </a:pPr>
            <a:r>
              <a:t>  virtual void pushFrame(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0" y="2825496"/>
            <a:ext cx="50292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AB0C8"/>
                </a:solidFill>
                <a:latin typeface="Consolas"/>
              </a:defRPr>
            </a:pPr>
            <a:r>
              <a:t>    const std::vector&lt;uint8_t&gt;&amp;) = 0;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0" y="2980944"/>
            <a:ext cx="50292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AB0C8"/>
                </a:solidFill>
                <a:latin typeface="Consolas"/>
              </a:defRPr>
            </a:pPr>
            <a:r>
              <a:t>};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0" y="3136391"/>
            <a:ext cx="50292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AB0C8"/>
                </a:solidFill>
                <a:latin typeface="Consolas"/>
              </a:defRPr>
            </a:pPr>
          </a:p>
        </p:txBody>
      </p:sp>
      <p:sp>
        <p:nvSpPr>
          <p:cNvPr id="48" name="TextBox 47"/>
          <p:cNvSpPr txBox="1"/>
          <p:nvPr/>
        </p:nvSpPr>
        <p:spPr>
          <a:xfrm>
            <a:off x="6400800" y="3291840"/>
            <a:ext cx="50292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B9FD0"/>
                </a:solidFill>
                <a:latin typeface="Consolas"/>
              </a:defRPr>
            </a:pPr>
            <a:r>
              <a:t>// 2. 单例 + 原子操作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0" y="3447288"/>
            <a:ext cx="50292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AB0C8"/>
                </a:solidFill>
                <a:latin typeface="Consolas"/>
              </a:defRPr>
            </a:pPr>
            <a:r>
              <a:t>class GestureFusion {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0" y="3602736"/>
            <a:ext cx="50292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AB0C8"/>
                </a:solidFill>
                <a:latin typeface="Consolas"/>
              </a:defRPr>
            </a:pPr>
            <a:r>
              <a:t>  static GestureFusion*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0" y="3758183"/>
            <a:ext cx="50292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AB0C8"/>
                </a:solidFill>
                <a:latin typeface="Consolas"/>
              </a:defRPr>
            </a:pPr>
            <a:r>
              <a:t>    getInstance();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00800" y="3913632"/>
            <a:ext cx="50292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AB0C8"/>
                </a:solidFill>
                <a:latin typeface="Consolas"/>
              </a:defRPr>
            </a:pPr>
            <a:r>
              <a:t>  std::atomic&lt;bool&gt;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00800" y="4069080"/>
            <a:ext cx="50292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AB0C8"/>
                </a:solidFill>
                <a:latin typeface="Consolas"/>
              </a:defRPr>
            </a:pPr>
            <a:r>
              <a:t>    _fistPendingCloud{false};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00800" y="4224528"/>
            <a:ext cx="50292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AB0C8"/>
                </a:solidFill>
                <a:latin typeface="Consolas"/>
              </a:defRPr>
            </a:pPr>
            <a:r>
              <a:t>  static constexpr float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00800" y="4379976"/>
            <a:ext cx="50292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AB0C8"/>
                </a:solidFill>
                <a:latin typeface="Consolas"/>
              </a:defRPr>
            </a:pPr>
            <a:r>
              <a:t>    COOLDOWN = 0.8f;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00800" y="4535424"/>
            <a:ext cx="50292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AB0C8"/>
                </a:solidFill>
                <a:latin typeface="Consolas"/>
              </a:defRPr>
            </a:pPr>
            <a:r>
              <a:t>};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00800" y="4690872"/>
            <a:ext cx="50292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AB0C8"/>
                </a:solidFill>
                <a:latin typeface="Consolas"/>
              </a:defRPr>
            </a:pPr>
          </a:p>
        </p:txBody>
      </p:sp>
      <p:sp>
        <p:nvSpPr>
          <p:cNvPr id="58" name="TextBox 57"/>
          <p:cNvSpPr txBox="1"/>
          <p:nvPr/>
        </p:nvSpPr>
        <p:spPr>
          <a:xfrm>
            <a:off x="6400800" y="4846320"/>
            <a:ext cx="50292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B9FD0"/>
                </a:solidFill>
                <a:latin typeface="Consolas"/>
              </a:defRPr>
            </a:pPr>
            <a:r>
              <a:t>// 3. Observer via std::function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00800" y="5001768"/>
            <a:ext cx="50292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AB0C8"/>
                </a:solidFill>
                <a:latin typeface="Consolas"/>
              </a:defRPr>
            </a:pPr>
            <a:r>
              <a:t>rec-&gt;setCallback([this](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00800" y="5157216"/>
            <a:ext cx="50292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AB0C8"/>
                </a:solidFill>
                <a:latin typeface="Consolas"/>
              </a:defRPr>
            </a:pPr>
            <a:r>
              <a:t>  const GestureResult&amp; r) {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400800" y="5312664"/>
            <a:ext cx="50292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AB0C8"/>
                </a:solidFill>
                <a:latin typeface="Consolas"/>
              </a:defRPr>
            </a:pPr>
            <a:r>
              <a:t>  this-&gt;onResult(r);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00800" y="5468112"/>
            <a:ext cx="50292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AB0C8"/>
                </a:solidFill>
                <a:latin typeface="Consolas"/>
              </a:defRPr>
            </a:pPr>
            <a:r>
              <a:t>});</a:t>
            </a:r>
          </a:p>
        </p:txBody>
      </p:sp>
      <p:sp>
        <p:nvSpPr>
          <p:cNvPr id="63" name="Rectangle 62"/>
          <p:cNvSpPr/>
          <p:nvPr/>
        </p:nvSpPr>
        <p:spPr>
          <a:xfrm>
            <a:off x="0" y="6656832"/>
            <a:ext cx="12191695" cy="18288"/>
          </a:xfrm>
          <a:prstGeom prst="rect">
            <a:avLst/>
          </a:prstGeom>
          <a:solidFill>
            <a:srgbClr val="6CA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1155680" y="642823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55A70"/>
                </a:solidFill>
                <a:latin typeface="Consolas"/>
              </a:defRPr>
            </a:pPr>
            <a:r>
              <a:t>11/12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46304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800" b="1">
                <a:solidFill>
                  <a:srgbClr val="D4A843"/>
                </a:solidFill>
                <a:latin typeface="Arial"/>
              </a:defRPr>
            </a:pPr>
            <a:r>
              <a:t>谢谢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108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E8E8EC"/>
                </a:solidFill>
                <a:latin typeface="Arial"/>
              </a:defRPr>
            </a:pPr>
            <a:r>
              <a:t>黄金矿工 · 手势识别版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CA0D8"/>
                </a:solidFill>
                <a:latin typeface="Consolas"/>
              </a:defRPr>
            </a:pPr>
            <a:r>
              <a:t>github.com/mzk-C4/gold-miner-vision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4297680"/>
            <a:ext cx="1097280" cy="274320"/>
          </a:xfrm>
          <a:prstGeom prst="roundRect">
            <a:avLst/>
          </a:prstGeom>
          <a:solidFill>
            <a:srgbClr val="0A0E27"/>
          </a:solidFill>
          <a:ln w="1270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D4A843"/>
                </a:solidFill>
                <a:latin typeface="Arial"/>
              </a:defRPr>
            </a:pPr>
            <a:r>
              <a:t>Cocos2d-x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4297680"/>
            <a:ext cx="1097280" cy="274320"/>
          </a:xfrm>
          <a:prstGeom prst="roundRect">
            <a:avLst/>
          </a:prstGeom>
          <a:solidFill>
            <a:srgbClr val="0A0E27"/>
          </a:solidFill>
          <a:ln w="12700">
            <a:solidFill>
              <a:srgbClr val="4A7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4A7FB5"/>
                </a:solidFill>
                <a:latin typeface="Arial"/>
              </a:defRPr>
            </a:pPr>
            <a:r>
              <a:t>OpenCV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0" y="4297680"/>
            <a:ext cx="1097280" cy="274320"/>
          </a:xfrm>
          <a:prstGeom prst="roundRect">
            <a:avLst/>
          </a:prstGeom>
          <a:solidFill>
            <a:srgbClr val="0A0E27"/>
          </a:solidFill>
          <a:ln w="12700">
            <a:solidFill>
              <a:srgbClr val="5BA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5BAF8A"/>
                </a:solidFill>
                <a:latin typeface="Arial"/>
              </a:defRPr>
            </a:pPr>
            <a:r>
              <a:t>C++17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40880" y="4297680"/>
            <a:ext cx="1097280" cy="274320"/>
          </a:xfrm>
          <a:prstGeom prst="roundRect">
            <a:avLst/>
          </a:prstGeom>
          <a:solidFill>
            <a:srgbClr val="0A0E27"/>
          </a:solidFill>
          <a:ln w="12700">
            <a:solidFill>
              <a:srgbClr val="7B6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7B6BA0"/>
                </a:solidFill>
                <a:latin typeface="Arial"/>
              </a:defRPr>
            </a:pPr>
            <a:r>
              <a:t>CMake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0" y="4297680"/>
            <a:ext cx="1097280" cy="274320"/>
          </a:xfrm>
          <a:prstGeom prst="roundRect">
            <a:avLst/>
          </a:prstGeom>
          <a:solidFill>
            <a:srgbClr val="0A0E27"/>
          </a:solidFill>
          <a:ln w="12700">
            <a:solidFill>
              <a:srgbClr val="C57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C57B8A"/>
                </a:solidFill>
                <a:latin typeface="Arial"/>
              </a:defRPr>
            </a:pPr>
            <a:r>
              <a:t>AI 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0292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A8FA8"/>
                </a:solidFill>
                <a:latin typeface="Arial"/>
              </a:defRPr>
            </a:pPr>
            <a:r>
              <a:t>C++ 课程设计 · 2026</a:t>
            </a:r>
          </a:p>
        </p:txBody>
      </p:sp>
      <p:pic>
        <p:nvPicPr>
          <p:cNvPr id="11" name="Picture 10" descr="mineB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5669280"/>
            <a:ext cx="2011680" cy="822960"/>
          </a:xfrm>
          <a:prstGeom prst="rect">
            <a:avLst/>
          </a:prstGeom>
        </p:spPr>
      </p:pic>
      <p:pic>
        <p:nvPicPr>
          <p:cNvPr id="12" name="Picture 11" descr="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0" y="5669280"/>
            <a:ext cx="2011680" cy="822960"/>
          </a:xfrm>
          <a:prstGeom prst="rect">
            <a:avLst/>
          </a:prstGeom>
        </p:spPr>
      </p:pic>
      <p:pic>
        <p:nvPicPr>
          <p:cNvPr id="13" name="Picture 12" descr="o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5669280"/>
            <a:ext cx="2011680" cy="822960"/>
          </a:xfrm>
          <a:prstGeom prst="rect">
            <a:avLst/>
          </a:prstGeom>
        </p:spPr>
      </p:pic>
      <p:pic>
        <p:nvPicPr>
          <p:cNvPr id="14" name="Picture 13" descr="shopBa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2559" y="5669280"/>
            <a:ext cx="2011680" cy="82296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0" y="6656832"/>
            <a:ext cx="12191695" cy="18288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155680" y="642823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55A70"/>
                </a:solidFill>
                <a:latin typeface="Consolas"/>
              </a:defRPr>
            </a:pPr>
            <a:r>
              <a:t>12/12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